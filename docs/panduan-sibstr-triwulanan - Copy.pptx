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552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22A63"/>
              </a:gs>
              <a:gs pos="100000">
                <a:srgbClr val="3E63C4"/>
              </a:gs>
            </a:gsLst>
            <a:lin ang="186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1051560"/>
            <a:ext cx="91440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spc="130" dirty="0">
                <a:solidFill>
                  <a:srgbClr val="DCE6FF"/>
                </a:solidFill>
                <a:latin typeface="Consolas"/>
              </a:rPr>
              <a:t>PANDUAN RESPONDEN</a:t>
            </a:r>
            <a:r>
              <a:rPr lang="en-US" sz="1250" b="1" spc="130" dirty="0">
                <a:solidFill>
                  <a:srgbClr val="DCE6FF"/>
                </a:solidFill>
                <a:latin typeface="Consolas"/>
              </a:rPr>
              <a:t> SIBSTR</a:t>
            </a:r>
            <a:endParaRPr sz="1250" b="1" spc="130" dirty="0">
              <a:solidFill>
                <a:srgbClr val="DCE6FF"/>
              </a:solidFill>
              <a:latin typeface="Consola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481328"/>
            <a:ext cx="96926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4200" b="1">
                <a:solidFill>
                  <a:srgbClr val="FFFFFF"/>
                </a:solidFill>
                <a:latin typeface="Segoe UI Semibold"/>
              </a:rPr>
              <a:t>Cara Mengisi Survei</a:t>
            </a:r>
          </a:p>
          <a:p>
            <a:pPr algn="l">
              <a:lnSpc>
                <a:spcPct val="102000"/>
              </a:lnSpc>
            </a:pPr>
            <a:r>
              <a:rPr sz="4200" b="1">
                <a:solidFill>
                  <a:srgbClr val="FFFFFF"/>
                </a:solidFill>
                <a:latin typeface="Segoe UI Semibold"/>
              </a:rPr>
              <a:t>SIBSTR Triwulanan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063240"/>
            <a:ext cx="7863840" cy="568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dirty="0" err="1">
                <a:solidFill>
                  <a:srgbClr val="DCE6FF"/>
                </a:solidFill>
                <a:latin typeface="Segoe UI"/>
              </a:rPr>
              <a:t>Survei</a:t>
            </a:r>
            <a:r>
              <a:rPr sz="1500" b="0" dirty="0">
                <a:solidFill>
                  <a:srgbClr val="DCE6FF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DCE6FF"/>
                </a:solidFill>
                <a:latin typeface="Segoe UI"/>
              </a:rPr>
              <a:t>Industri</a:t>
            </a:r>
            <a:r>
              <a:rPr sz="1500" b="0" dirty="0">
                <a:solidFill>
                  <a:srgbClr val="DCE6FF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DCE6FF"/>
                </a:solidFill>
                <a:latin typeface="Segoe UI"/>
              </a:rPr>
              <a:t>Besar</a:t>
            </a:r>
            <a:r>
              <a:rPr sz="1500" b="0" dirty="0">
                <a:solidFill>
                  <a:srgbClr val="DCE6FF"/>
                </a:solidFill>
                <a:latin typeface="Segoe UI"/>
              </a:rPr>
              <a:t> dan Sedang </a:t>
            </a:r>
            <a:r>
              <a:rPr sz="1500" b="0" dirty="0" err="1">
                <a:solidFill>
                  <a:srgbClr val="DCE6FF"/>
                </a:solidFill>
                <a:latin typeface="Segoe UI"/>
              </a:rPr>
              <a:t>Triwulanan</a:t>
            </a:r>
            <a:r>
              <a:rPr sz="1500" b="0" dirty="0">
                <a:solidFill>
                  <a:srgbClr val="DCE6FF"/>
                </a:solidFill>
                <a:latin typeface="Segoe UI"/>
              </a:rPr>
              <a:t> — </a:t>
            </a:r>
            <a:endParaRPr lang="en-US" sz="1500" b="0" dirty="0">
              <a:solidFill>
                <a:srgbClr val="DCE6FF"/>
              </a:solidFill>
              <a:latin typeface="Segoe UI"/>
            </a:endParaRPr>
          </a:p>
          <a:p>
            <a:pPr algn="l">
              <a:lnSpc>
                <a:spcPct val="130000"/>
              </a:lnSpc>
            </a:pPr>
            <a:r>
              <a:rPr sz="1500" b="0" dirty="0" err="1">
                <a:solidFill>
                  <a:srgbClr val="DCE6FF"/>
                </a:solidFill>
                <a:latin typeface="Segoe UI"/>
              </a:rPr>
              <a:t>langkah</a:t>
            </a:r>
            <a:r>
              <a:rPr sz="1500" b="0" dirty="0">
                <a:solidFill>
                  <a:srgbClr val="DCE6FF"/>
                </a:solidFill>
                <a:latin typeface="Segoe UI"/>
              </a:rPr>
              <a:t> demi </a:t>
            </a:r>
            <a:r>
              <a:rPr sz="1500" b="0" dirty="0" err="1">
                <a:solidFill>
                  <a:srgbClr val="DCE6FF"/>
                </a:solidFill>
                <a:latin typeface="Segoe UI"/>
              </a:rPr>
              <a:t>langkah</a:t>
            </a:r>
            <a:r>
              <a:rPr sz="1500" b="0" dirty="0">
                <a:solidFill>
                  <a:srgbClr val="DCE6FF"/>
                </a:solidFill>
                <a:latin typeface="Segoe UI"/>
              </a:rPr>
              <a:t>, </a:t>
            </a:r>
            <a:r>
              <a:rPr sz="1500" b="0" dirty="0" err="1">
                <a:solidFill>
                  <a:srgbClr val="DCE6FF"/>
                </a:solidFill>
                <a:latin typeface="Segoe UI"/>
              </a:rPr>
              <a:t>dari</a:t>
            </a:r>
            <a:r>
              <a:rPr sz="1500" b="0" dirty="0">
                <a:solidFill>
                  <a:srgbClr val="DCE6FF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DCE6FF"/>
                </a:solidFill>
                <a:latin typeface="Segoe UI"/>
              </a:rPr>
              <a:t>tautan</a:t>
            </a:r>
            <a:r>
              <a:rPr sz="1500" b="0" dirty="0">
                <a:solidFill>
                  <a:srgbClr val="DCE6FF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DCE6FF"/>
                </a:solidFill>
                <a:latin typeface="Segoe UI"/>
              </a:rPr>
              <a:t>akses</a:t>
            </a:r>
            <a:r>
              <a:rPr sz="1500" b="0" dirty="0">
                <a:solidFill>
                  <a:srgbClr val="DCE6FF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DCE6FF"/>
                </a:solidFill>
                <a:latin typeface="Segoe UI"/>
              </a:rPr>
              <a:t>sampai</a:t>
            </a:r>
            <a:r>
              <a:rPr sz="1500" b="0" dirty="0">
                <a:solidFill>
                  <a:srgbClr val="DCE6FF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DCE6FF"/>
                </a:solidFill>
                <a:latin typeface="Segoe UI"/>
              </a:rPr>
              <a:t>survei</a:t>
            </a:r>
            <a:r>
              <a:rPr sz="1500" b="0" dirty="0">
                <a:solidFill>
                  <a:srgbClr val="DCE6FF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DCE6FF"/>
                </a:solidFill>
                <a:latin typeface="Segoe UI"/>
              </a:rPr>
              <a:t>selesai</a:t>
            </a:r>
            <a:r>
              <a:rPr sz="1500" b="0" dirty="0">
                <a:solidFill>
                  <a:srgbClr val="DCE6FF"/>
                </a:solidFill>
                <a:latin typeface="Segoe UI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3794760"/>
            <a:ext cx="548640" cy="50800"/>
          </a:xfrm>
          <a:prstGeom prst="rect">
            <a:avLst/>
          </a:prstGeom>
          <a:solidFill>
            <a:srgbClr val="E9C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BPS Kota Batam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45575" y="5961888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250" b="1" spc="20">
                <a:solidFill>
                  <a:srgbClr val="FFFFFF"/>
                </a:solidFill>
                <a:latin typeface="Consolas"/>
              </a:rPr>
              <a:t>s.bps.go.id/sibstr_tw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12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110">
                <a:solidFill>
                  <a:srgbClr val="2955C9"/>
                </a:solidFill>
                <a:latin typeface="Consolas"/>
              </a:rPr>
              <a:t>02 · RINGKASAN ALUR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6233D"/>
                </a:solidFill>
                <a:latin typeface="Segoe UI Semibold"/>
              </a:rPr>
              <a:t>Empat langkah dari tautan sampai selesai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4B5875"/>
                </a:solidFill>
                <a:latin typeface="Segoe UI"/>
              </a:rPr>
              <a:t>Seluruh proses berlangsung di satu tempat: DataKita — tidak perlu memasang aplikasi.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4B5875"/>
                </a:solidFill>
                <a:latin typeface="Consolas"/>
              </a:rPr>
              <a:t>02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83080"/>
            <a:ext cx="2478024" cy="2286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7DEEB"/>
            </a:solidFill>
          </a:ln>
          <a:effectLst>
            <a:outerShdw blurRad="127000" dist="38100" dir="5400000" rotWithShape="0">
              <a:srgbClr val="1623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984248"/>
            <a:ext cx="20756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spc="50">
                <a:solidFill>
                  <a:srgbClr val="2955C9"/>
                </a:solidFill>
                <a:latin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350008"/>
            <a:ext cx="207568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16233D"/>
                </a:solidFill>
                <a:latin typeface="Segoe UI Semibold"/>
              </a:rPr>
              <a:t>Akses Tautan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807208"/>
            <a:ext cx="207568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B5875"/>
                </a:solidFill>
                <a:latin typeface="Segoe UI"/>
              </a:rPr>
              <a:t>Buka s.bps.go.id/sibstr_tw dari HP atau komputer.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4952" y="2743200"/>
            <a:ext cx="3840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A96F17"/>
                </a:solidFill>
                <a:latin typeface="Segoe U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783080"/>
            <a:ext cx="2478024" cy="2286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7DEEB"/>
            </a:solidFill>
          </a:ln>
          <a:effectLst>
            <a:outerShdw blurRad="127000" dist="38100" dir="5400000" rotWithShape="0">
              <a:srgbClr val="1623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30168" y="1984248"/>
            <a:ext cx="20756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spc="50">
                <a:solidFill>
                  <a:srgbClr val="2955C9"/>
                </a:solidFill>
                <a:latin typeface="Consola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350008"/>
            <a:ext cx="207568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16233D"/>
                </a:solidFill>
                <a:latin typeface="Segoe UI Semibold"/>
              </a:rPr>
              <a:t>Masuk / Daftar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2807208"/>
            <a:ext cx="207568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B5875"/>
                </a:solidFill>
                <a:latin typeface="Segoe UI"/>
              </a:rPr>
              <a:t>Login jika sudah punya akun, atau daftar akun baru.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7024" y="2743200"/>
            <a:ext cx="3840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A96F17"/>
                </a:solidFill>
                <a:latin typeface="Segoe U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1072" y="1783080"/>
            <a:ext cx="2478024" cy="2286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7DEEB"/>
            </a:solidFill>
          </a:ln>
          <a:effectLst>
            <a:outerShdw blurRad="127000" dist="38100" dir="5400000" rotWithShape="0">
              <a:srgbClr val="1623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1984248"/>
            <a:ext cx="20756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spc="50">
                <a:solidFill>
                  <a:srgbClr val="2955C9"/>
                </a:solidFill>
                <a:latin typeface="Consola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350008"/>
            <a:ext cx="207568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16233D"/>
                </a:solidFill>
                <a:latin typeface="Segoe UI Semibold"/>
              </a:rPr>
              <a:t>Pilih Triwulanan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807208"/>
            <a:ext cx="207568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B5875"/>
                </a:solidFill>
                <a:latin typeface="Segoe UI"/>
              </a:rPr>
              <a:t>Pilih periode triwulan yang sedang terbuka.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69096" y="2743200"/>
            <a:ext cx="3840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A96F17"/>
                </a:solidFill>
                <a:latin typeface="Segoe U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53144" y="1783080"/>
            <a:ext cx="2478024" cy="2286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7DEEB"/>
            </a:solidFill>
          </a:ln>
          <a:effectLst>
            <a:outerShdw blurRad="127000" dist="38100" dir="5400000" rotWithShape="0">
              <a:srgbClr val="1623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54312" y="1984248"/>
            <a:ext cx="20756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spc="50">
                <a:solidFill>
                  <a:srgbClr val="2955C9"/>
                </a:solidFill>
                <a:latin typeface="Consola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54312" y="2350008"/>
            <a:ext cx="207568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16233D"/>
                </a:solidFill>
                <a:latin typeface="Segoe UI Semibold"/>
              </a:rPr>
              <a:t>Isi Blok I–VI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54312" y="2807208"/>
            <a:ext cx="207568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B5875"/>
                </a:solidFill>
                <a:latin typeface="Segoe UI"/>
              </a:rPr>
              <a:t>Lengkapi formulir lalu selesaikan survei.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12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110">
                <a:solidFill>
                  <a:srgbClr val="2955C9"/>
                </a:solidFill>
                <a:latin typeface="Consolas"/>
              </a:rPr>
              <a:t>03 · LANGKAH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6233D"/>
                </a:solidFill>
                <a:latin typeface="Segoe UI Semibold"/>
              </a:rPr>
              <a:t>Akses tautan survei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4B5875"/>
                </a:solidFill>
                <a:latin typeface="Segoe UI"/>
              </a:rPr>
              <a:t>Tautan pendek otomatis mengarahkan ke halaman survei SIBSTR di DataKita.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4B5875"/>
                </a:solidFill>
                <a:latin typeface="Consolas"/>
              </a:rPr>
              <a:t>03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83080"/>
            <a:ext cx="4892040" cy="123444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 w="9525">
            <a:solidFill>
              <a:srgbClr val="D7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43799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60">
                <a:solidFill>
                  <a:srgbClr val="4B5875"/>
                </a:solidFill>
                <a:latin typeface="Consolas"/>
              </a:rPr>
              <a:t>TAUTAN PENDEK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437997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2955C9"/>
                </a:solidFill>
                <a:latin typeface="Consolas"/>
              </a:rPr>
              <a:t>s.bps.go.id/sibstr_tw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58968" y="1783080"/>
            <a:ext cx="1273759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A96F17"/>
                </a:solidFill>
                <a:latin typeface="Segoe U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32727" y="1783080"/>
            <a:ext cx="4892040" cy="123444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 w="9525">
            <a:solidFill>
              <a:srgbClr val="D7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88759" y="1965960"/>
            <a:ext cx="43799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60">
                <a:solidFill>
                  <a:srgbClr val="4B5875"/>
                </a:solidFill>
                <a:latin typeface="Consolas"/>
              </a:rPr>
              <a:t>DIARAHKAN OTOMATIS 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8759" y="2313432"/>
            <a:ext cx="437997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955C9"/>
                </a:solidFill>
                <a:latin typeface="Consolas"/>
              </a:rPr>
              <a:t>datakita.angkabatam.id/survei/sibstr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383280"/>
            <a:ext cx="11064240" cy="777240"/>
          </a:xfrm>
          <a:prstGeom prst="roundRect">
            <a:avLst>
              <a:gd name="adj" fmla="val 12000"/>
            </a:avLst>
          </a:prstGeom>
          <a:solidFill>
            <a:srgbClr val="F3E5C7"/>
          </a:solidFill>
          <a:ln w="12700">
            <a:solidFill>
              <a:srgbClr val="A96F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8096" y="3383280"/>
            <a:ext cx="10661904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7A5610"/>
                </a:solidFill>
                <a:latin typeface="Segoe UI"/>
              </a:rPr>
              <a:t>Dapat dibuka dari peramban (browser) HP maupun komputer, tanpa perlu memasang aplikasi tambahan.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12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110">
                <a:solidFill>
                  <a:srgbClr val="2955C9"/>
                </a:solidFill>
                <a:latin typeface="Consolas"/>
              </a:rPr>
              <a:t>04 · LANGKAH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6233D"/>
                </a:solidFill>
                <a:latin typeface="Segoe UI Semibold"/>
              </a:rPr>
              <a:t>Masuk atau daftar akun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4B5875"/>
                </a:solidFill>
                <a:latin typeface="Segoe UI"/>
              </a:rPr>
              <a:t>Akun diperlukan agar isian tersimpan dan dapat dilanjutkan kapan saja.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4B5875"/>
                </a:solidFill>
                <a:latin typeface="Consolas"/>
              </a:rPr>
              <a:t>04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83080"/>
            <a:ext cx="1483156" cy="237744"/>
          </a:xfrm>
          <a:prstGeom prst="roundRect">
            <a:avLst>
              <a:gd name="adj" fmla="val 50000"/>
            </a:avLst>
          </a:prstGeom>
          <a:solidFill>
            <a:srgbClr val="DE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900" b="1" spc="30">
                <a:solidFill>
                  <a:srgbClr val="2955C9"/>
                </a:solidFill>
                <a:latin typeface="Consolas"/>
              </a:rPr>
              <a:t>SUDAH PUNYA AKUN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30552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6233D"/>
                </a:solidFill>
                <a:latin typeface="Segoe UI Semibold"/>
              </a:rPr>
              <a:t>Masuk ke Akun</a:t>
            </a:r>
          </a:p>
        </p:txBody>
      </p:sp>
      <p:pic>
        <p:nvPicPr>
          <p:cNvPr id="9" name="Picture 8" descr="01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889" y="2606040"/>
            <a:ext cx="2349037" cy="3520440"/>
          </a:xfrm>
          <a:prstGeom prst="rect">
            <a:avLst/>
          </a:prstGeom>
          <a:ln w="12700">
            <a:solidFill>
              <a:srgbClr val="D7DEEB"/>
            </a:solidFill>
          </a:ln>
          <a:effectLst>
            <a:outerShdw blurRad="177800" dist="50800" dir="5400000" rotWithShape="0">
              <a:srgbClr val="16233D">
                <a:alpha val="30000"/>
              </a:srgbClr>
            </a:outerShdw>
          </a:effectLst>
        </p:spPr>
      </p:pic>
      <p:sp>
        <p:nvSpPr>
          <p:cNvPr id="10" name="TextBox 9"/>
          <p:cNvSpPr txBox="1"/>
          <p:nvPr/>
        </p:nvSpPr>
        <p:spPr>
          <a:xfrm>
            <a:off x="566928" y="6309360"/>
            <a:ext cx="5394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B5875"/>
                </a:solidFill>
                <a:latin typeface="Segoe UI"/>
              </a:rPr>
              <a:t>Isi Alamat Email dan Kata Sandi, lalu tekan Masuk.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9807" y="1783080"/>
            <a:ext cx="1483156" cy="237744"/>
          </a:xfrm>
          <a:prstGeom prst="roundRect">
            <a:avLst>
              <a:gd name="adj" fmla="val 50000"/>
            </a:avLst>
          </a:prstGeom>
          <a:solidFill>
            <a:srgbClr val="F3E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900" b="1" spc="30">
                <a:solidFill>
                  <a:srgbClr val="A96F17"/>
                </a:solidFill>
                <a:latin typeface="Consolas"/>
              </a:rPr>
              <a:t>BELUM PUNYA AKUN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9807" y="2130552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6233D"/>
                </a:solidFill>
                <a:latin typeface="Segoe UI Semibold"/>
              </a:rPr>
              <a:t>Buat Akun</a:t>
            </a:r>
          </a:p>
        </p:txBody>
      </p:sp>
      <p:pic>
        <p:nvPicPr>
          <p:cNvPr id="13" name="Picture 12" descr="02-daftar-aku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5406" y="2606040"/>
            <a:ext cx="1863762" cy="3520440"/>
          </a:xfrm>
          <a:prstGeom prst="rect">
            <a:avLst/>
          </a:prstGeom>
          <a:ln w="12700">
            <a:solidFill>
              <a:srgbClr val="D7DEEB"/>
            </a:solidFill>
          </a:ln>
          <a:effectLst>
            <a:outerShdw blurRad="177800" dist="50800" dir="5400000" rotWithShape="0">
              <a:srgbClr val="16233D">
                <a:alpha val="30000"/>
              </a:srgbClr>
            </a:outerShdw>
          </a:effectLst>
        </p:spPr>
      </p:pic>
      <p:sp>
        <p:nvSpPr>
          <p:cNvPr id="14" name="TextBox 13"/>
          <p:cNvSpPr txBox="1"/>
          <p:nvPr/>
        </p:nvSpPr>
        <p:spPr>
          <a:xfrm>
            <a:off x="6229807" y="6309360"/>
            <a:ext cx="5394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B5875"/>
                </a:solidFill>
                <a:latin typeface="Segoe UI"/>
              </a:rPr>
              <a:t>Lengkapi Nama, Email, Jenis Pengguna, dan Kata Sandi.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12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110">
                <a:solidFill>
                  <a:srgbClr val="2955C9"/>
                </a:solidFill>
                <a:latin typeface="Consolas"/>
              </a:rPr>
              <a:t>05 · LANGKAH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6233D"/>
                </a:solidFill>
                <a:latin typeface="Segoe UI Semibold"/>
              </a:rPr>
              <a:t>Pilih periode Triwulanan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4B5875"/>
                </a:solidFill>
                <a:latin typeface="Segoe UI"/>
              </a:rPr>
              <a:t>Dashboard survei menampilkan dua tahap: Tahunan 2025 dan Triwulanan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4B5875"/>
                </a:solidFill>
                <a:latin typeface="Consolas"/>
              </a:rPr>
              <a:t>05 / 14</a:t>
            </a:r>
          </a:p>
        </p:txBody>
      </p:sp>
      <p:pic>
        <p:nvPicPr>
          <p:cNvPr id="7" name="Picture 6" descr="03-dashboard-pilih-triwulan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127" y="1783080"/>
            <a:ext cx="4031201" cy="4343400"/>
          </a:xfrm>
          <a:prstGeom prst="rect">
            <a:avLst/>
          </a:prstGeom>
          <a:ln w="12700">
            <a:solidFill>
              <a:srgbClr val="D7DEEB"/>
            </a:solidFill>
          </a:ln>
          <a:effectLst>
            <a:outerShdw blurRad="177800" dist="50800" dir="5400000" rotWithShape="0">
              <a:srgbClr val="16233D">
                <a:alpha val="30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6967728" y="1828800"/>
            <a:ext cx="465703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spc="60">
                <a:solidFill>
                  <a:srgbClr val="4B5875"/>
                </a:solidFill>
                <a:latin typeface="Consolas"/>
              </a:rPr>
              <a:t>STATUS TRIWULAN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67728" y="2240280"/>
            <a:ext cx="4657039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2955C9"/>
            </a:solidFill>
          </a:ln>
          <a:effectLst>
            <a:outerShdw blurRad="127000" dist="38100" dir="5400000" rotWithShape="0">
              <a:srgbClr val="1623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50608" y="2240280"/>
            <a:ext cx="2561371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16233D"/>
                </a:solidFill>
                <a:latin typeface="Segoe UI"/>
              </a:rPr>
              <a:t>Triwulan 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07447" y="2395728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DE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900" b="1" spc="20">
                <a:solidFill>
                  <a:srgbClr val="2955C9"/>
                </a:solidFill>
                <a:latin typeface="Consolas"/>
              </a:rPr>
              <a:t>Tersedia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67728" y="2953512"/>
            <a:ext cx="4657039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2955C9"/>
            </a:solidFill>
          </a:ln>
          <a:effectLst>
            <a:outerShdw blurRad="127000" dist="38100" dir="5400000" rotWithShape="0">
              <a:srgbClr val="1623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50608" y="2953512"/>
            <a:ext cx="2561371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16233D"/>
                </a:solidFill>
                <a:latin typeface="Segoe UI"/>
              </a:rPr>
              <a:t>Triwulan II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07447" y="3108960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DE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900" b="1" spc="20">
                <a:solidFill>
                  <a:srgbClr val="2955C9"/>
                </a:solidFill>
                <a:latin typeface="Consolas"/>
              </a:rPr>
              <a:t>Tersedia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67728" y="3666744"/>
            <a:ext cx="4657039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7DEEB"/>
            </a:solidFill>
          </a:ln>
          <a:effectLst>
            <a:outerShdw blurRad="127000" dist="38100" dir="5400000" rotWithShape="0">
              <a:srgbClr val="1623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50608" y="3666744"/>
            <a:ext cx="2561371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16233D"/>
                </a:solidFill>
                <a:latin typeface="Segoe UI"/>
              </a:rPr>
              <a:t>Triwulan III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07447" y="3822192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900" b="1" spc="20">
                <a:solidFill>
                  <a:srgbClr val="4B5875"/>
                </a:solidFill>
                <a:latin typeface="Consolas"/>
              </a:rPr>
              <a:t>Belum buka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67728" y="4379976"/>
            <a:ext cx="4657039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7DEEB"/>
            </a:solidFill>
          </a:ln>
          <a:effectLst>
            <a:outerShdw blurRad="127000" dist="38100" dir="5400000" rotWithShape="0">
              <a:srgbClr val="1623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50608" y="4379976"/>
            <a:ext cx="2561371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16233D"/>
                </a:solidFill>
                <a:latin typeface="Segoe UI"/>
              </a:rPr>
              <a:t>Triwulan IV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07447" y="4535424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900" b="1" spc="20">
                <a:solidFill>
                  <a:srgbClr val="4B5875"/>
                </a:solidFill>
                <a:latin typeface="Consolas"/>
              </a:rPr>
              <a:t>Belum buka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7728" y="5138928"/>
            <a:ext cx="465703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4B5875"/>
                </a:solidFill>
                <a:latin typeface="Segoe UI"/>
              </a:rPr>
              <a:t>Tekan + Mulai Isi pada triwulan yang berstatus Tersedia.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12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110">
                <a:solidFill>
                  <a:srgbClr val="2955C9"/>
                </a:solidFill>
                <a:latin typeface="Consolas"/>
              </a:rPr>
              <a:t>06 · LANGKAH 4 · PETA FORMULIR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6233D"/>
                </a:solidFill>
                <a:latin typeface="Segoe UI Semibold"/>
              </a:rPr>
              <a:t>Alur pengisian Blok I–VI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4B5875"/>
                </a:solidFill>
                <a:latin typeface="Segoe UI"/>
              </a:rPr>
              <a:t>Cabang blok ditentukan otomatis dari jawaban yang sudah Anda isi sendiri di Blok II.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4B5875"/>
                </a:solidFill>
                <a:latin typeface="Consolas"/>
              </a:rPr>
              <a:t>06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32807" y="1783080"/>
            <a:ext cx="2926080" cy="475488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 w="12700">
            <a:solidFill>
              <a:srgbClr val="D7DEEB"/>
            </a:solidFill>
          </a:ln>
          <a:effectLst>
            <a:outerShdw blurRad="127000" dist="38100" dir="5400000" rotWithShape="0">
              <a:srgbClr val="1623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32807" y="1783080"/>
            <a:ext cx="292608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16233D"/>
                </a:solidFill>
                <a:latin typeface="Segoe UI Semibold"/>
              </a:rPr>
              <a:t>Blok I · Keterangan Umum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21527" y="2258568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>
                <a:solidFill>
                  <a:srgbClr val="4B5875"/>
                </a:solidFill>
                <a:latin typeface="Segoe UI"/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92727" y="2532888"/>
            <a:ext cx="4206240" cy="475488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 w="12700">
            <a:solidFill>
              <a:srgbClr val="D7DEEB"/>
            </a:solidFill>
          </a:ln>
          <a:effectLst>
            <a:outerShdw blurRad="127000" dist="38100" dir="5400000" rotWithShape="0">
              <a:srgbClr val="1623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92727" y="2532888"/>
            <a:ext cx="42062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16233D"/>
                </a:solidFill>
                <a:latin typeface="Segoe UI Semibold"/>
              </a:rPr>
              <a:t>Blok II · Pendahuluan  (isi 208 · KBLI Utama)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21527" y="3008376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>
                <a:solidFill>
                  <a:srgbClr val="4B5875"/>
                </a:solidFill>
                <a:latin typeface="Segoe UI"/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55567" y="3282696"/>
            <a:ext cx="4480560" cy="420624"/>
          </a:xfrm>
          <a:prstGeom prst="roundRect">
            <a:avLst>
              <a:gd name="adj" fmla="val 50000"/>
            </a:avLst>
          </a:prstGeom>
          <a:solidFill>
            <a:srgbClr val="F3E5C7"/>
          </a:solidFill>
          <a:ln w="12700">
            <a:solidFill>
              <a:srgbClr val="A96F17"/>
            </a:solidFill>
          </a:ln>
          <a:effectLst>
            <a:outerShdw blurRad="127000" dist="38100" dir="5400000" rotWithShape="0">
              <a:srgbClr val="1623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55567" y="3282696"/>
            <a:ext cx="44805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A96F17"/>
                </a:solidFill>
                <a:latin typeface="Segoe UI Semibold"/>
              </a:rPr>
              <a:t>KBLI 2 digit (kode 208c) termasuk 10–33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15287" y="3922776"/>
            <a:ext cx="4160520" cy="475488"/>
          </a:xfrm>
          <a:prstGeom prst="roundRect">
            <a:avLst>
              <a:gd name="adj" fmla="val 16000"/>
            </a:avLst>
          </a:prstGeom>
          <a:solidFill>
            <a:srgbClr val="DEE7FA"/>
          </a:solidFill>
          <a:ln w="12700">
            <a:solidFill>
              <a:srgbClr val="2955C9"/>
            </a:solidFill>
          </a:ln>
          <a:effectLst>
            <a:outerShdw blurRad="127000" dist="38100" dir="5400000" rotWithShape="0">
              <a:srgbClr val="1623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15287" y="3703320"/>
            <a:ext cx="4160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spc="80">
                <a:solidFill>
                  <a:srgbClr val="4B5875"/>
                </a:solidFill>
                <a:latin typeface="Consolas"/>
              </a:rPr>
              <a:t>YA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15287" y="3922776"/>
            <a:ext cx="41605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2955C9"/>
                </a:solidFill>
                <a:latin typeface="Segoe UI Semibold"/>
              </a:rPr>
              <a:t>Blok IIIA + IIIB (jalur Industri)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15887" y="3922776"/>
            <a:ext cx="4160520" cy="475488"/>
          </a:xfrm>
          <a:prstGeom prst="roundRect">
            <a:avLst>
              <a:gd name="adj" fmla="val 16000"/>
            </a:avLst>
          </a:prstGeom>
          <a:solidFill>
            <a:srgbClr val="DEE7FA"/>
          </a:solidFill>
          <a:ln w="12700">
            <a:solidFill>
              <a:srgbClr val="2955C9"/>
            </a:solidFill>
          </a:ln>
          <a:effectLst>
            <a:outerShdw blurRad="127000" dist="38100" dir="5400000" rotWithShape="0">
              <a:srgbClr val="1623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15887" y="3703320"/>
            <a:ext cx="4160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spc="80">
                <a:solidFill>
                  <a:srgbClr val="4B5875"/>
                </a:solidFill>
                <a:latin typeface="Consolas"/>
              </a:rPr>
              <a:t>TIDAK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5887" y="3922776"/>
            <a:ext cx="41605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2955C9"/>
                </a:solidFill>
                <a:latin typeface="Segoe UI Semibold"/>
              </a:rPr>
              <a:t>Blok IIIB (jalur Non-Industri)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21527" y="439826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>
                <a:solidFill>
                  <a:srgbClr val="4B5875"/>
                </a:solidFill>
                <a:latin typeface="Segoe UI"/>
              </a:rP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92727" y="4672584"/>
            <a:ext cx="4206240" cy="475488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 w="12700">
            <a:solidFill>
              <a:srgbClr val="D7DEEB"/>
            </a:solidFill>
          </a:ln>
          <a:effectLst>
            <a:outerShdw blurRad="127000" dist="38100" dir="5400000" rotWithShape="0">
              <a:srgbClr val="1623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992727" y="4672584"/>
            <a:ext cx="42062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16233D"/>
                </a:solidFill>
                <a:latin typeface="Segoe UI Semibold"/>
              </a:rPr>
              <a:t>Blok V · Kondisi &amp; Prospek Usaha (7 komponen)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21527" y="5148072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>
                <a:solidFill>
                  <a:srgbClr val="4B5875"/>
                </a:solidFill>
                <a:latin typeface="Segoe UI"/>
              </a:rPr>
              <a:t>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84167" y="5422392"/>
            <a:ext cx="4023360" cy="475488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 w="12700">
            <a:solidFill>
              <a:srgbClr val="D7DEEB"/>
            </a:solidFill>
          </a:ln>
          <a:effectLst>
            <a:outerShdw blurRad="127000" dist="38100" dir="5400000" rotWithShape="0">
              <a:srgbClr val="1623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084167" y="5422392"/>
            <a:ext cx="40233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16233D"/>
                </a:solidFill>
                <a:latin typeface="Segoe UI Semibold"/>
              </a:rPr>
              <a:t>Blok VI · Catatan → Selesaikan Survei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81047" y="609904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>
                <a:solidFill>
                  <a:srgbClr val="4B5875"/>
                </a:solidFill>
                <a:latin typeface="Segoe UI"/>
              </a:rPr>
              <a:t>Jika Kondisi Perusahaan (201) bukan “Masih Aktif”, sistem melewati IIIA–V dan langsung ke Blok VI.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12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110">
                <a:solidFill>
                  <a:srgbClr val="2955C9"/>
                </a:solidFill>
                <a:latin typeface="Consolas"/>
              </a:rPr>
              <a:t>07 · BLOK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6233D"/>
                </a:solidFill>
                <a:latin typeface="Segoe UI Semibold"/>
              </a:rPr>
              <a:t>Keterangan Umum &amp; Legalisasi Perusahaan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4B5875"/>
                </a:solidFill>
                <a:latin typeface="Consolas"/>
              </a:rPr>
              <a:t>07 / 14</a:t>
            </a:r>
          </a:p>
        </p:txBody>
      </p:sp>
      <p:pic>
        <p:nvPicPr>
          <p:cNvPr id="6" name="Picture 5" descr="04-blok1-keterangan-um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791" y="1481328"/>
            <a:ext cx="3115514" cy="3429000"/>
          </a:xfrm>
          <a:prstGeom prst="rect">
            <a:avLst/>
          </a:prstGeom>
          <a:ln w="12700">
            <a:solidFill>
              <a:srgbClr val="D7DEEB"/>
            </a:solidFill>
          </a:ln>
          <a:effectLst>
            <a:outerShdw blurRad="177800" dist="50800" dir="5400000" rotWithShape="0">
              <a:srgbClr val="16233D">
                <a:alpha val="30000"/>
              </a:srgb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566928" y="5093208"/>
            <a:ext cx="3063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B5875"/>
                </a:solidFill>
                <a:latin typeface="Segoe UI"/>
              </a:rPr>
              <a:t>Tampilan formulir hanya menunjukkan sebagian — daftar lengkap seluruh isian Blok I ada di samping.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95928" y="1481328"/>
            <a:ext cx="3703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spc="50">
                <a:solidFill>
                  <a:srgbClr val="4B5875"/>
                </a:solidFill>
                <a:latin typeface="Consolas"/>
              </a:rPr>
              <a:t>I. KETERANGAN UMUM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95928" y="1773936"/>
            <a:ext cx="3703320" cy="448056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 w="9525">
            <a:solidFill>
              <a:srgbClr val="D7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105656" y="1888236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DE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900" b="1" spc="20">
                <a:solidFill>
                  <a:srgbClr val="2955C9"/>
                </a:solidFill>
                <a:latin typeface="Consolas"/>
              </a:rPr>
              <a:t>101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45736" y="1773936"/>
            <a:ext cx="2843784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6233D"/>
                </a:solidFill>
                <a:latin typeface="Segoe UI"/>
              </a:rPr>
              <a:t>Nama Perusahaan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95928" y="2295144"/>
            <a:ext cx="3703320" cy="448056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 w="9525">
            <a:solidFill>
              <a:srgbClr val="D7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105656" y="2409444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DE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900" b="1" spc="20">
                <a:solidFill>
                  <a:srgbClr val="2955C9"/>
                </a:solidFill>
                <a:latin typeface="Consolas"/>
              </a:rPr>
              <a:t>102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45736" y="2295144"/>
            <a:ext cx="2843784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6233D"/>
                </a:solidFill>
                <a:latin typeface="Segoe UI"/>
              </a:rPr>
              <a:t>Alamat Pabrik / Tempat Usaha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95928" y="2816352"/>
            <a:ext cx="3703320" cy="448056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 w="9525">
            <a:solidFill>
              <a:srgbClr val="D7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105656" y="2930652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DE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900" b="1" spc="20">
                <a:solidFill>
                  <a:srgbClr val="2955C9"/>
                </a:solidFill>
                <a:latin typeface="Consolas"/>
              </a:rPr>
              <a:t>103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45736" y="2816352"/>
            <a:ext cx="2843784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6233D"/>
                </a:solidFill>
                <a:latin typeface="Segoe UI"/>
              </a:rPr>
              <a:t>Kabupaten / Kota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95928" y="3337560"/>
            <a:ext cx="3703320" cy="448056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 w="9525">
            <a:solidFill>
              <a:srgbClr val="D7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105656" y="3451860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DE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900" b="1" spc="20">
                <a:solidFill>
                  <a:srgbClr val="2955C9"/>
                </a:solidFill>
                <a:latin typeface="Consolas"/>
              </a:rPr>
              <a:t>104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45736" y="3337560"/>
            <a:ext cx="2843784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6233D"/>
                </a:solidFill>
                <a:latin typeface="Segoe UI"/>
              </a:rPr>
              <a:t>Telepon / Fax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95928" y="3858768"/>
            <a:ext cx="3703320" cy="448056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 w="9525">
            <a:solidFill>
              <a:srgbClr val="D7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105656" y="3973068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DE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900" b="1" spc="20">
                <a:solidFill>
                  <a:srgbClr val="2955C9"/>
                </a:solidFill>
                <a:latin typeface="Consolas"/>
              </a:rPr>
              <a:t>105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45736" y="3858768"/>
            <a:ext cx="2843784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6233D"/>
                </a:solidFill>
                <a:latin typeface="Segoe UI"/>
              </a:rPr>
              <a:t>Penghubung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95928" y="4379976"/>
            <a:ext cx="3703320" cy="448056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 w="9525">
            <a:solidFill>
              <a:srgbClr val="D7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105656" y="4494276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DE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900" b="1" spc="20">
                <a:solidFill>
                  <a:srgbClr val="2955C9"/>
                </a:solidFill>
                <a:latin typeface="Consolas"/>
              </a:rPr>
              <a:t>106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45736" y="4379976"/>
            <a:ext cx="2843784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6233D"/>
                </a:solidFill>
                <a:latin typeface="Segoe UI"/>
              </a:rPr>
              <a:t>Email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95928" y="4901184"/>
            <a:ext cx="3703320" cy="448056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 w="9525">
            <a:solidFill>
              <a:srgbClr val="D7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105656" y="5015484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DE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900" b="1" spc="20">
                <a:solidFill>
                  <a:srgbClr val="2955C9"/>
                </a:solidFill>
                <a:latin typeface="Consolas"/>
              </a:rPr>
              <a:t>107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45736" y="4901184"/>
            <a:ext cx="2843784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6233D"/>
                </a:solidFill>
                <a:latin typeface="Segoe UI"/>
              </a:rPr>
              <a:t>Homepage / Website (opsional)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95928" y="5422392"/>
            <a:ext cx="3703320" cy="448056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 w="9525">
            <a:solidFill>
              <a:srgbClr val="D7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4105656" y="5536692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DE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900" b="1" spc="20">
                <a:solidFill>
                  <a:srgbClr val="2955C9"/>
                </a:solidFill>
                <a:latin typeface="Consolas"/>
              </a:rPr>
              <a:t>108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45736" y="5422392"/>
            <a:ext cx="2843784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6233D"/>
                </a:solidFill>
                <a:latin typeface="Segoe UI"/>
              </a:rPr>
              <a:t>Tahun mulai beroperasi komersial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995928" y="5943600"/>
            <a:ext cx="3703320" cy="448056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 w="9525">
            <a:solidFill>
              <a:srgbClr val="D7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4105656" y="6057900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DE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900" b="1" spc="20">
                <a:solidFill>
                  <a:srgbClr val="2955C9"/>
                </a:solidFill>
                <a:latin typeface="Consolas"/>
              </a:rPr>
              <a:t>109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45736" y="5943600"/>
            <a:ext cx="2843784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6233D"/>
                </a:solidFill>
                <a:latin typeface="Segoe UI"/>
              </a:rPr>
              <a:t>NIB — Nomor Induk Berusaha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80" y="1481328"/>
            <a:ext cx="366948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spc="50">
                <a:solidFill>
                  <a:srgbClr val="4B5875"/>
                </a:solidFill>
                <a:latin typeface="Consolas"/>
              </a:rPr>
              <a:t>KAWASAN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55280" y="1773936"/>
            <a:ext cx="3669487" cy="658368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 w="9525">
            <a:solidFill>
              <a:srgbClr val="D7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065008" y="1993392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F3E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900" b="1" spc="20">
                <a:solidFill>
                  <a:srgbClr val="A96F17"/>
                </a:solidFill>
                <a:latin typeface="Consolas"/>
              </a:rPr>
              <a:t>110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05088" y="1773936"/>
            <a:ext cx="2809951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6233D"/>
                </a:solidFill>
                <a:latin typeface="Segoe UI"/>
              </a:rPr>
              <a:t>Jenis Kawasan — Kawasan Ekonomi Khusus / Kawasan Industri / Di Luar Kawasan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55280" y="2505456"/>
            <a:ext cx="3669487" cy="402336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 w="9525">
            <a:solidFill>
              <a:srgbClr val="D7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8065008" y="2596896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F3E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900" b="1" spc="20">
                <a:solidFill>
                  <a:srgbClr val="A96F17"/>
                </a:solidFill>
                <a:latin typeface="Consolas"/>
              </a:rPr>
              <a:t>111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05088" y="2505456"/>
            <a:ext cx="2809951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6233D"/>
                </a:solidFill>
                <a:latin typeface="Segoe UI"/>
              </a:rPr>
              <a:t>Nama Kawasan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955280" y="2980944"/>
            <a:ext cx="3669487" cy="45720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 w="9525">
            <a:solidFill>
              <a:srgbClr val="D7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8065008" y="3099816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F3E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900" b="1" spc="20">
                <a:solidFill>
                  <a:srgbClr val="A96F17"/>
                </a:solidFill>
                <a:latin typeface="Consolas"/>
              </a:rPr>
              <a:t>112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05088" y="2980944"/>
            <a:ext cx="280995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6233D"/>
                </a:solidFill>
                <a:latin typeface="Segoe UI"/>
              </a:rPr>
              <a:t>Nama Perusahaan Pengelola Kawasan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55280" y="3602736"/>
            <a:ext cx="366948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spc="50">
                <a:solidFill>
                  <a:srgbClr val="4B5875"/>
                </a:solidFill>
                <a:latin typeface="Consolas"/>
              </a:rPr>
              <a:t>LEGALISASI PERUSAHAAN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955280" y="3895344"/>
            <a:ext cx="3669487" cy="448056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 w="9525">
            <a:solidFill>
              <a:srgbClr val="D7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065008" y="4009644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DE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900" b="1" spc="20">
                <a:solidFill>
                  <a:srgbClr val="2955C9"/>
                </a:solidFill>
                <a:latin typeface="Consolas"/>
              </a:rPr>
              <a:t>113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05088" y="3895344"/>
            <a:ext cx="2809951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6233D"/>
                </a:solidFill>
                <a:latin typeface="Segoe UI"/>
              </a:rPr>
              <a:t>Nama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955280" y="4416552"/>
            <a:ext cx="3669487" cy="448056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 w="9525">
            <a:solidFill>
              <a:srgbClr val="D7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8065008" y="4530852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DE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900" b="1" spc="20">
                <a:solidFill>
                  <a:srgbClr val="2955C9"/>
                </a:solidFill>
                <a:latin typeface="Consolas"/>
              </a:rPr>
              <a:t>114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05088" y="4416552"/>
            <a:ext cx="2809951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6233D"/>
                </a:solidFill>
                <a:latin typeface="Segoe UI"/>
              </a:rPr>
              <a:t>Jabatan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955280" y="4937760"/>
            <a:ext cx="3669487" cy="448056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 w="9525">
            <a:solidFill>
              <a:srgbClr val="D7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8065008" y="5052060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DE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900" b="1" spc="20">
                <a:solidFill>
                  <a:srgbClr val="2955C9"/>
                </a:solidFill>
                <a:latin typeface="Consolas"/>
              </a:rPr>
              <a:t>115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05088" y="4937760"/>
            <a:ext cx="2809951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6233D"/>
                </a:solidFill>
                <a:latin typeface="Segoe UI"/>
              </a:rPr>
              <a:t>Jenis Kelamin — Laki-laki / Perempuan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955280" y="5458968"/>
            <a:ext cx="3669487" cy="448056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 w="9525">
            <a:solidFill>
              <a:srgbClr val="D7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065008" y="5573268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DE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900" b="1" spc="20">
                <a:solidFill>
                  <a:srgbClr val="2955C9"/>
                </a:solidFill>
                <a:latin typeface="Consolas"/>
              </a:rPr>
              <a:t>116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05088" y="5458968"/>
            <a:ext cx="2809951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6233D"/>
                </a:solidFill>
                <a:latin typeface="Segoe UI"/>
              </a:rPr>
              <a:t>NIK (opsional)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12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110">
                <a:solidFill>
                  <a:srgbClr val="2955C9"/>
                </a:solidFill>
                <a:latin typeface="Consolas"/>
              </a:rPr>
              <a:t>08 · BLOK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6233D"/>
                </a:solidFill>
                <a:latin typeface="Segoe UI Semibold"/>
              </a:rPr>
              <a:t>Pendahuluan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4B5875"/>
                </a:solidFill>
                <a:latin typeface="Consolas"/>
              </a:rPr>
              <a:t>08 / 14</a:t>
            </a:r>
          </a:p>
        </p:txBody>
      </p:sp>
      <p:pic>
        <p:nvPicPr>
          <p:cNvPr id="6" name="Picture 5" descr="05-blok2-pendahulu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57" y="1481328"/>
            <a:ext cx="4902901" cy="4297680"/>
          </a:xfrm>
          <a:prstGeom prst="rect">
            <a:avLst/>
          </a:prstGeom>
          <a:ln w="12700">
            <a:solidFill>
              <a:srgbClr val="D7DEEB"/>
            </a:solidFill>
          </a:ln>
          <a:effectLst>
            <a:outerShdw blurRad="177800" dist="50800" dir="5400000" rotWithShape="0">
              <a:srgbClr val="16233D">
                <a:alpha val="30000"/>
              </a:srgbClr>
            </a:outerShdw>
          </a:effectLst>
        </p:spPr>
      </p:pic>
      <p:sp>
        <p:nvSpPr>
          <p:cNvPr id="7" name="Rounded Rectangle 6"/>
          <p:cNvSpPr/>
          <p:nvPr/>
        </p:nvSpPr>
        <p:spPr>
          <a:xfrm>
            <a:off x="5687568" y="1481328"/>
            <a:ext cx="5937199" cy="96012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 w="9525">
            <a:solidFill>
              <a:srgbClr val="D7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797296" y="1851660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DE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900" b="1" spc="20">
                <a:solidFill>
                  <a:srgbClr val="2955C9"/>
                </a:solidFill>
                <a:latin typeface="Consolas"/>
              </a:rPr>
              <a:t>201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37376" y="1481328"/>
            <a:ext cx="5077663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16233D"/>
                </a:solidFill>
                <a:latin typeface="Segoe UI"/>
              </a:rPr>
              <a:t>Kondisi Perusahaan</a:t>
            </a:r>
            <a:r>
              <a:rPr sz="1050" b="0">
                <a:solidFill>
                  <a:srgbClr val="16233D"/>
                </a:solidFill>
                <a:latin typeface="Segoe UI"/>
              </a:rPr>
              <a:t> — Masih Aktif / Belum Beroperasi / Tutup / Pindah / Tidak Ditemukan / Double-Ganda-Duplikat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87568" y="2551176"/>
            <a:ext cx="5937199" cy="100584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 w="9525">
            <a:solidFill>
              <a:srgbClr val="D7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797296" y="2944368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DE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900" b="1" spc="20">
                <a:solidFill>
                  <a:srgbClr val="2955C9"/>
                </a:solidFill>
                <a:latin typeface="Consolas"/>
              </a:rPr>
              <a:t>202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7376" y="2551176"/>
            <a:ext cx="5077663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16233D"/>
                </a:solidFill>
                <a:latin typeface="Segoe UI"/>
              </a:rPr>
              <a:t>Jaringan / unit kegiatan perusahaan</a:t>
            </a:r>
            <a:r>
              <a:rPr sz="1050" b="0">
                <a:solidFill>
                  <a:srgbClr val="16233D"/>
                </a:solidFill>
                <a:latin typeface="Segoe UI"/>
              </a:rPr>
              <a:t> — Tunggal / Pabrik-Unit Produksi-Cabang / Pusat dgn Kegiatan Produksi / Kantor Pusat-Administrasi / Unit Pembantu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87568" y="3666744"/>
            <a:ext cx="5937199" cy="50292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 w="9525">
            <a:solidFill>
              <a:srgbClr val="D7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797296" y="3808476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DE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900" b="1" spc="20">
                <a:solidFill>
                  <a:srgbClr val="2955C9"/>
                </a:solidFill>
                <a:latin typeface="Consolas"/>
              </a:rPr>
              <a:t>207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3666744"/>
            <a:ext cx="5077663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16233D"/>
                </a:solidFill>
                <a:latin typeface="Segoe UI"/>
              </a:rPr>
              <a:t>Rata-rata tenaga kerja</a:t>
            </a:r>
            <a:r>
              <a:rPr sz="1050" b="0">
                <a:solidFill>
                  <a:srgbClr val="16233D"/>
                </a:solidFill>
                <a:latin typeface="Segoe UI"/>
              </a:rPr>
              <a:t> di perusahaan pada triwulan ini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87568" y="4279392"/>
            <a:ext cx="5937199" cy="50292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 w="9525">
            <a:solidFill>
              <a:srgbClr val="D7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797296" y="4421124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DE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900" b="1" spc="20">
                <a:solidFill>
                  <a:srgbClr val="2955C9"/>
                </a:solidFill>
                <a:latin typeface="Consolas"/>
              </a:rPr>
              <a:t>208a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4279392"/>
            <a:ext cx="5077663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16233D"/>
                </a:solidFill>
                <a:latin typeface="Segoe UI"/>
              </a:rPr>
              <a:t>Kegiatan utama perusahaan</a:t>
            </a:r>
            <a:r>
              <a:rPr sz="1050" b="0">
                <a:solidFill>
                  <a:srgbClr val="16233D"/>
                </a:solidFill>
                <a:latin typeface="Segoe UI"/>
              </a:rPr>
              <a:t> — uraian singkat kegiatan usaha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87568" y="4892040"/>
            <a:ext cx="5937199" cy="685800"/>
          </a:xfrm>
          <a:prstGeom prst="roundRect">
            <a:avLst>
              <a:gd name="adj" fmla="val 16000"/>
            </a:avLst>
          </a:prstGeom>
          <a:solidFill>
            <a:srgbClr val="F3E5C7"/>
          </a:solidFill>
          <a:ln w="9525">
            <a:solidFill>
              <a:srgbClr val="A96F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797296" y="5125212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F3E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900" b="1" spc="20">
                <a:solidFill>
                  <a:srgbClr val="A96F17"/>
                </a:solidFill>
                <a:latin typeface="Consolas"/>
              </a:rPr>
              <a:t>208c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4892040"/>
            <a:ext cx="5077663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16233D"/>
                </a:solidFill>
                <a:latin typeface="Segoe UI"/>
              </a:rPr>
              <a:t>KBLI Utama</a:t>
            </a:r>
            <a:r>
              <a:rPr sz="1050" b="0">
                <a:solidFill>
                  <a:srgbClr val="16233D"/>
                </a:solidFill>
                <a:latin typeface="Segoe UI"/>
              </a:rPr>
              <a:t> (5 digit) — dari sinilah sistem menentukan jalur Industri / Non-Industri di Blok III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12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110">
                <a:solidFill>
                  <a:srgbClr val="2955C9"/>
                </a:solidFill>
                <a:latin typeface="Consolas"/>
              </a:rPr>
              <a:t>09 · BLOK IIIA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6233D"/>
                </a:solidFill>
                <a:latin typeface="Segoe UI Semibold"/>
              </a:rPr>
              <a:t>Kondisi Perekonomian (Pelaku Usaha)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4B5875"/>
                </a:solidFill>
                <a:latin typeface="Consolas"/>
              </a:rPr>
              <a:t>09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81328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F3E5C7"/>
          </a:solidFill>
          <a:ln w="12700">
            <a:solidFill>
              <a:srgbClr val="A96F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1481328"/>
            <a:ext cx="10661904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7A5610"/>
                </a:solidFill>
                <a:latin typeface="Segoe UI"/>
              </a:rPr>
              <a:t>Blok ini </a:t>
            </a:r>
            <a:r>
              <a:rPr sz="1200" b="1">
                <a:solidFill>
                  <a:srgbClr val="7A5610"/>
                </a:solidFill>
                <a:latin typeface="Segoe UI"/>
              </a:rPr>
              <a:t>hanya muncul</a:t>
            </a:r>
            <a:r>
              <a:rPr sz="1200" b="0">
                <a:solidFill>
                  <a:srgbClr val="7A5610"/>
                </a:solidFill>
                <a:latin typeface="Segoe UI"/>
              </a:rPr>
              <a:t> jika perusahaan Masih Aktif (201) dan KBLI Utama (208c) termasuk 10–33 / Industri Pengolahan. Jika tidak, sistem melewatinya.</a:t>
            </a:r>
          </a:p>
        </p:txBody>
      </p:sp>
      <p:pic>
        <p:nvPicPr>
          <p:cNvPr id="8" name="Picture 7" descr="06-blok3a-kondisi-perekonom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657" y="2350008"/>
            <a:ext cx="4911182" cy="3566160"/>
          </a:xfrm>
          <a:prstGeom prst="rect">
            <a:avLst/>
          </a:prstGeom>
          <a:ln w="12700">
            <a:solidFill>
              <a:srgbClr val="D7DEEB"/>
            </a:solidFill>
          </a:ln>
          <a:effectLst>
            <a:outerShdw blurRad="177800" dist="50800" dir="5400000" rotWithShape="0">
              <a:srgbClr val="16233D">
                <a:alpha val="30000"/>
              </a:srgbClr>
            </a:outerShdw>
          </a:effectLst>
        </p:spPr>
      </p:pic>
      <p:sp>
        <p:nvSpPr>
          <p:cNvPr id="9" name="Rounded Rectangle 8"/>
          <p:cNvSpPr/>
          <p:nvPr/>
        </p:nvSpPr>
        <p:spPr>
          <a:xfrm>
            <a:off x="6144768" y="2350008"/>
            <a:ext cx="5479999" cy="141732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 w="9525">
            <a:solidFill>
              <a:srgbClr val="D7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54496" y="2948940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DE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900" b="1" spc="20">
                <a:solidFill>
                  <a:srgbClr val="2955C9"/>
                </a:solidFill>
                <a:latin typeface="Consolas"/>
              </a:rPr>
              <a:t>301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94576" y="2350008"/>
            <a:ext cx="4620463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16233D"/>
                </a:solidFill>
                <a:latin typeface="Segoe UI"/>
              </a:rPr>
              <a:t>Produk yang dihasilkan</a:t>
            </a:r>
            <a:r>
              <a:rPr sz="1050" b="0">
                <a:solidFill>
                  <a:srgbClr val="16233D"/>
                </a:solidFill>
                <a:latin typeface="Segoe UI"/>
              </a:rPr>
              <a:t> (bisa lebih dari satu, tombol Tambah Produk) — Nama/Jenis Barang, Satuan/Unit, lalu per bulan: Banyaknya, Nilai (Rp), dan Harga Satuan (otomatis).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3895344"/>
            <a:ext cx="5479999" cy="123444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 w="9525">
            <a:solidFill>
              <a:srgbClr val="D7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254496" y="4402836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DE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900" b="1" spc="20">
                <a:solidFill>
                  <a:srgbClr val="2955C9"/>
                </a:solidFill>
                <a:latin typeface="Consolas"/>
              </a:rPr>
              <a:t>302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94576" y="3895344"/>
            <a:ext cx="4620463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16233D"/>
                </a:solidFill>
                <a:latin typeface="Segoe UI"/>
              </a:rPr>
              <a:t>Pendapatan Lainnya</a:t>
            </a:r>
            <a:r>
              <a:rPr sz="1050" b="0">
                <a:solidFill>
                  <a:srgbClr val="16233D"/>
                </a:solidFill>
                <a:latin typeface="Segoe UI"/>
              </a:rPr>
              <a:t> per bulan — mis. untung/rugi jual barang, sewa gedung/kendaraan, ongkos angkut, penjualan energi sampingan, jasa kemasan/reparasi kecil.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5257800"/>
            <a:ext cx="5479999" cy="68580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 w="9525">
            <a:solidFill>
              <a:srgbClr val="D7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54496" y="5490972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DE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900" b="1" spc="20">
                <a:solidFill>
                  <a:srgbClr val="2955C9"/>
                </a:solidFill>
                <a:latin typeface="Consolas"/>
              </a:rPr>
              <a:t>303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94576" y="5257800"/>
            <a:ext cx="4620463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16233D"/>
                </a:solidFill>
                <a:latin typeface="Segoe UI"/>
              </a:rPr>
              <a:t>Total Pendapatan</a:t>
            </a:r>
            <a:r>
              <a:rPr sz="1050" b="0">
                <a:solidFill>
                  <a:srgbClr val="16233D"/>
                </a:solidFill>
                <a:latin typeface="Segoe UI"/>
              </a:rPr>
              <a:t> per bulan — dihitung otomatis (301 + 302).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12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110">
                <a:solidFill>
                  <a:srgbClr val="2955C9"/>
                </a:solidFill>
                <a:latin typeface="Consolas"/>
              </a:rPr>
              <a:t>10 · BLOK IIIB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6233D"/>
                </a:solidFill>
                <a:latin typeface="Segoe UI Semibold"/>
              </a:rPr>
              <a:t>Industri / Non-Industri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4B5875"/>
                </a:solidFill>
                <a:latin typeface="Consolas"/>
              </a:rPr>
              <a:t>10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34440"/>
            <a:ext cx="11064240" cy="548640"/>
          </a:xfrm>
          <a:prstGeom prst="roundRect">
            <a:avLst>
              <a:gd name="adj" fmla="val 12000"/>
            </a:avLst>
          </a:prstGeom>
          <a:solidFill>
            <a:srgbClr val="F3E5C7"/>
          </a:solidFill>
          <a:ln w="12700">
            <a:solidFill>
              <a:srgbClr val="A96F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1234440"/>
            <a:ext cx="1066190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7A5610"/>
                </a:solidFill>
                <a:latin typeface="Segoe UI"/>
              </a:rPr>
              <a:t>Hanya salah satu jalur berlaku</a:t>
            </a:r>
            <a:r>
              <a:rPr sz="1100" b="0">
                <a:solidFill>
                  <a:srgbClr val="7A5610"/>
                </a:solidFill>
                <a:latin typeface="Segoe UI"/>
              </a:rPr>
              <a:t> (sesuai KBLI). 3 dari 4 sub-bagian di bawah identik untuk kedua jalur — hanya Pendapatan Perusahaan yang berbeda.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47672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B"/>
            </a:solidFill>
          </a:ln>
          <a:effectLst>
            <a:outerShdw blurRad="127000" dist="38100" dir="5400000" rotWithShape="0">
              <a:srgbClr val="1623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066544"/>
            <a:ext cx="50657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spc="50">
                <a:solidFill>
                  <a:srgbClr val="2955C9"/>
                </a:solidFill>
                <a:latin typeface="Consolas"/>
              </a:rPr>
              <a:t>JIKA INDUSTRI · PENDAPATAN PERUSAHAAN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68296"/>
            <a:ext cx="5029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955C9"/>
                </a:solidFill>
                <a:latin typeface="Consolas"/>
              </a:rPr>
              <a:t>304</a:t>
            </a:r>
            <a:r>
              <a:rPr sz="1050" b="0">
                <a:solidFill>
                  <a:srgbClr val="16233D"/>
                </a:solidFill>
                <a:latin typeface="Segoe UI"/>
              </a:rPr>
              <a:t>  Pendapatan royalti, bunga, dividen, dan lainnya yang diterima perusahaan pada triwulan berjalan.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9807" y="1947672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B"/>
            </a:solidFill>
          </a:ln>
          <a:effectLst>
            <a:outerShdw blurRad="127000" dist="38100" dir="5400000" rotWithShape="0">
              <a:srgbClr val="1623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94399" y="2066544"/>
            <a:ext cx="50657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spc="50">
                <a:solidFill>
                  <a:srgbClr val="2955C9"/>
                </a:solidFill>
                <a:latin typeface="Consolas"/>
              </a:rPr>
              <a:t>JIKA NON-INDUSTRI · PENDAPATAN PERUSAHAAN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2687" y="2368296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2955C9"/>
                </a:solidFill>
                <a:latin typeface="Consolas"/>
              </a:rPr>
              <a:t>303</a:t>
            </a:r>
            <a:r>
              <a:rPr sz="1000" b="0">
                <a:solidFill>
                  <a:srgbClr val="16233D"/>
                </a:solidFill>
                <a:latin typeface="Segoe UI"/>
              </a:rPr>
              <a:t>  Nilai penjualan barang &amp; jasa perusahaan.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2687" y="2660904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2955C9"/>
                </a:solidFill>
                <a:latin typeface="Consolas"/>
              </a:rPr>
              <a:t>304</a:t>
            </a:r>
            <a:r>
              <a:rPr sz="1000" b="0">
                <a:solidFill>
                  <a:srgbClr val="16233D"/>
                </a:solidFill>
                <a:latin typeface="Segoe UI"/>
              </a:rPr>
              <a:t>  Pendapatan royalti, bunga, dividen, dan lainnya.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2687" y="2953512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2955C9"/>
                </a:solidFill>
                <a:latin typeface="Consolas"/>
              </a:rPr>
              <a:t>305</a:t>
            </a:r>
            <a:r>
              <a:rPr sz="1000" b="0">
                <a:solidFill>
                  <a:srgbClr val="16233D"/>
                </a:solidFill>
                <a:latin typeface="Segoe UI"/>
              </a:rPr>
              <a:t>  Total pendapatan — dihitung otomatis.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75304"/>
            <a:ext cx="352044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B"/>
            </a:solidFill>
          </a:ln>
          <a:effectLst>
            <a:outerShdw blurRad="127000" dist="38100" dir="5400000" rotWithShape="0">
              <a:srgbClr val="1623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3694176"/>
            <a:ext cx="31912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spc="50">
                <a:solidFill>
                  <a:srgbClr val="4B5875"/>
                </a:solidFill>
                <a:latin typeface="Consolas"/>
              </a:rPr>
              <a:t>PERSEDIAAN (INVENTORI) · sama di kedua jalur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105656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955C9"/>
                </a:solidFill>
                <a:latin typeface="Consolas"/>
              </a:rPr>
              <a:t>306</a:t>
            </a:r>
            <a:r>
              <a:rPr sz="1100" b="0">
                <a:solidFill>
                  <a:srgbClr val="16233D"/>
                </a:solidFill>
                <a:latin typeface="Segoe UI"/>
              </a:rPr>
              <a:t>  Bahan baku, bahan bakar (awal/akhir)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581144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955C9"/>
                </a:solidFill>
                <a:latin typeface="Consolas"/>
              </a:rPr>
              <a:t>307</a:t>
            </a:r>
            <a:r>
              <a:rPr sz="1100" b="0">
                <a:solidFill>
                  <a:srgbClr val="16233D"/>
                </a:solidFill>
                <a:latin typeface="Segoe UI"/>
              </a:rPr>
              <a:t>  Barang dalam proses (awal/akhir)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056632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955C9"/>
                </a:solidFill>
                <a:latin typeface="Consolas"/>
              </a:rPr>
              <a:t>308</a:t>
            </a:r>
            <a:r>
              <a:rPr sz="1100" b="0">
                <a:solidFill>
                  <a:srgbClr val="16233D"/>
                </a:solidFill>
                <a:latin typeface="Segoe UI"/>
              </a:rPr>
              <a:t>  Barang jadi (awal/akhir)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553212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955C9"/>
                </a:solidFill>
                <a:latin typeface="Consolas"/>
              </a:rPr>
              <a:t>309</a:t>
            </a:r>
            <a:r>
              <a:rPr sz="1100" b="0">
                <a:solidFill>
                  <a:srgbClr val="16233D"/>
                </a:solidFill>
                <a:latin typeface="Segoe UI"/>
              </a:rPr>
              <a:t>  Total persediaan — otomatis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575304"/>
            <a:ext cx="352044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B"/>
            </a:solidFill>
          </a:ln>
          <a:effectLst>
            <a:outerShdw blurRad="127000" dist="38100" dir="5400000" rotWithShape="0">
              <a:srgbClr val="1623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07992" y="3694176"/>
            <a:ext cx="31912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spc="50">
                <a:solidFill>
                  <a:srgbClr val="4B5875"/>
                </a:solidFill>
                <a:latin typeface="Consolas"/>
              </a:rPr>
              <a:t>ITEM PENGELUARAN · sama di kedua jalur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105656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955C9"/>
                </a:solidFill>
                <a:latin typeface="Consolas"/>
              </a:rPr>
              <a:t>310</a:t>
            </a:r>
            <a:r>
              <a:rPr sz="1100" b="0">
                <a:solidFill>
                  <a:srgbClr val="16233D"/>
                </a:solidFill>
                <a:latin typeface="Segoe UI"/>
              </a:rPr>
              <a:t>  Upah &amp; gaji + jaminan sosial pegawai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581144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955C9"/>
                </a:solidFill>
                <a:latin typeface="Consolas"/>
              </a:rPr>
              <a:t>311</a:t>
            </a:r>
            <a:r>
              <a:rPr sz="1100" b="0">
                <a:solidFill>
                  <a:srgbClr val="16233D"/>
                </a:solidFill>
                <a:latin typeface="Segoe UI"/>
              </a:rPr>
              <a:t>  Penambahan aset tetap (kecuali tanah)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5056632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955C9"/>
                </a:solidFill>
                <a:latin typeface="Consolas"/>
              </a:rPr>
              <a:t>312</a:t>
            </a:r>
            <a:r>
              <a:rPr sz="1100" b="0">
                <a:solidFill>
                  <a:srgbClr val="16233D"/>
                </a:solidFill>
                <a:latin typeface="Segoe UI"/>
              </a:rPr>
              <a:t>  Biaya produksi (bahan baku &amp; penolong)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553212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955C9"/>
                </a:solidFill>
                <a:latin typeface="Consolas"/>
              </a:rPr>
              <a:t>313</a:t>
            </a:r>
            <a:r>
              <a:rPr sz="1100" b="0">
                <a:solidFill>
                  <a:srgbClr val="16233D"/>
                </a:solidFill>
                <a:latin typeface="Segoe UI"/>
              </a:rPr>
              <a:t>  Biaya operasional (air, listrik, gas, dll)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19872" y="3575304"/>
            <a:ext cx="352044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B"/>
            </a:solidFill>
          </a:ln>
          <a:effectLst>
            <a:outerShdw blurRad="127000" dist="38100" dir="5400000" rotWithShape="0">
              <a:srgbClr val="1623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84464" y="3694176"/>
            <a:ext cx="31912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spc="50">
                <a:solidFill>
                  <a:srgbClr val="4B5875"/>
                </a:solidFill>
                <a:latin typeface="Consolas"/>
              </a:rPr>
              <a:t>EKSPOR IMPOR LN · sama di kedua jalur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752" y="4105656"/>
            <a:ext cx="31546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955C9"/>
                </a:solidFill>
                <a:latin typeface="Consolas"/>
              </a:rPr>
              <a:t>314</a:t>
            </a:r>
            <a:r>
              <a:rPr sz="1100" b="0">
                <a:solidFill>
                  <a:srgbClr val="16233D"/>
                </a:solidFill>
                <a:latin typeface="Segoe UI"/>
              </a:rPr>
              <a:t>  % nilai produksi dijual ekspor langsung ke luar negeri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2752" y="5001768"/>
            <a:ext cx="31546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955C9"/>
                </a:solidFill>
                <a:latin typeface="Consolas"/>
              </a:rPr>
              <a:t>315</a:t>
            </a:r>
            <a:r>
              <a:rPr sz="1100" b="0">
                <a:solidFill>
                  <a:srgbClr val="16233D"/>
                </a:solidFill>
                <a:latin typeface="Segoe UI"/>
              </a:rPr>
              <a:t>  % nilai bahan baku diperoleh dari impor luar negeri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12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110">
                <a:solidFill>
                  <a:srgbClr val="2955C9"/>
                </a:solidFill>
                <a:latin typeface="Consolas"/>
              </a:rPr>
              <a:t>11 · BLOK 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6233D"/>
                </a:solidFill>
                <a:latin typeface="Segoe UI Semibold"/>
              </a:rPr>
              <a:t>Kondisi dan Prospek Usaha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4B5875"/>
                </a:solidFill>
                <a:latin typeface="Consolas"/>
              </a:rPr>
              <a:t>11 / 14</a:t>
            </a:r>
          </a:p>
        </p:txBody>
      </p:sp>
      <p:pic>
        <p:nvPicPr>
          <p:cNvPr id="6" name="Picture 5" descr="09-blok5-kondisi-prospek-usa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52" y="1481328"/>
            <a:ext cx="5080112" cy="4343400"/>
          </a:xfrm>
          <a:prstGeom prst="rect">
            <a:avLst/>
          </a:prstGeom>
          <a:ln w="12700">
            <a:solidFill>
              <a:srgbClr val="D7DEEB"/>
            </a:solidFill>
          </a:ln>
          <a:effectLst>
            <a:outerShdw blurRad="177800" dist="50800" dir="5400000" rotWithShape="0">
              <a:srgbClr val="16233D">
                <a:alpha val="30000"/>
              </a:srgb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566928" y="6007608"/>
            <a:ext cx="4709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4B5875"/>
                </a:solidFill>
                <a:latin typeface="Segoe UI"/>
              </a:rPr>
              <a:t>Tampilan formulir hanya sampai baris 503 — 4 komponen lain ada di bawahnya.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87568" y="1481328"/>
            <a:ext cx="593719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6233D"/>
                </a:solidFill>
                <a:latin typeface="Segoe UI"/>
              </a:rPr>
              <a:t>Untuk tiap komponen, isi Kondisi (triwulan ini vs lalu) dan Prospek (triwulan depan vs ini):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87568" y="2048256"/>
            <a:ext cx="5937199" cy="457200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 w="9525">
            <a:solidFill>
              <a:srgbClr val="D7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797296" y="2167128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DE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850" b="1" spc="40">
                <a:solidFill>
                  <a:srgbClr val="2955C9"/>
                </a:solidFill>
                <a:latin typeface="Consolas"/>
              </a:rPr>
              <a:t>501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2048256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16233D"/>
                </a:solidFill>
                <a:latin typeface="Segoe UI"/>
              </a:rPr>
              <a:t>Pesanan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5048" y="2048256"/>
            <a:ext cx="310255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B5875"/>
                </a:solidFill>
                <a:latin typeface="Segoe UI"/>
              </a:rPr>
              <a:t>Naik / Tetap / Turun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87568" y="2560320"/>
            <a:ext cx="5937199" cy="457200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 w="9525">
            <a:solidFill>
              <a:srgbClr val="D7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797296" y="2679192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DE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850" b="1" spc="40">
                <a:solidFill>
                  <a:srgbClr val="2955C9"/>
                </a:solidFill>
                <a:latin typeface="Consolas"/>
              </a:rPr>
              <a:t>502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56032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16233D"/>
                </a:solidFill>
                <a:latin typeface="Segoe UI"/>
              </a:rPr>
              <a:t>Produksi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2560320"/>
            <a:ext cx="310255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B5875"/>
                </a:solidFill>
                <a:latin typeface="Segoe UI"/>
              </a:rPr>
              <a:t>Naik / Tetap / Turun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87568" y="3072384"/>
            <a:ext cx="5937199" cy="457200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 w="9525">
            <a:solidFill>
              <a:srgbClr val="D7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797296" y="3191256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DE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850" b="1" spc="40">
                <a:solidFill>
                  <a:srgbClr val="2955C9"/>
                </a:solidFill>
                <a:latin typeface="Consolas"/>
              </a:rPr>
              <a:t>503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3072384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16233D"/>
                </a:solidFill>
                <a:latin typeface="Segoe UI"/>
              </a:rPr>
              <a:t>Kapasitas Produksi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3072384"/>
            <a:ext cx="310255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B5875"/>
                </a:solidFill>
                <a:latin typeface="Segoe UI"/>
              </a:rPr>
              <a:t>Naik / Tetap / Turun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87568" y="3584448"/>
            <a:ext cx="5937199" cy="457200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 w="9525">
            <a:solidFill>
              <a:srgbClr val="D7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797296" y="3703320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DE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850" b="1" spc="40">
                <a:solidFill>
                  <a:srgbClr val="2955C9"/>
                </a:solidFill>
                <a:latin typeface="Consolas"/>
              </a:rPr>
              <a:t>504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3584448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16233D"/>
                </a:solidFill>
                <a:latin typeface="Segoe UI"/>
              </a:rPr>
              <a:t>Tenaga Kerja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5048" y="3584448"/>
            <a:ext cx="310255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B5875"/>
                </a:solidFill>
                <a:latin typeface="Segoe UI"/>
              </a:rPr>
              <a:t>Naik / Tetap / Turun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87568" y="4096512"/>
            <a:ext cx="5937199" cy="457200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 w="9525">
            <a:solidFill>
              <a:srgbClr val="D7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797296" y="4215384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DE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850" b="1" spc="40">
                <a:solidFill>
                  <a:srgbClr val="2955C9"/>
                </a:solidFill>
                <a:latin typeface="Consolas"/>
              </a:rPr>
              <a:t>505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8" y="4096512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16233D"/>
                </a:solidFill>
                <a:latin typeface="Segoe UI"/>
              </a:rPr>
              <a:t>Jam Kerja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5048" y="4096512"/>
            <a:ext cx="310255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B5875"/>
                </a:solidFill>
                <a:latin typeface="Segoe UI"/>
              </a:rPr>
              <a:t>Naik / Tetap / Turun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87568" y="4608576"/>
            <a:ext cx="5937199" cy="457200"/>
          </a:xfrm>
          <a:prstGeom prst="roundRect">
            <a:avLst>
              <a:gd name="adj" fmla="val 14000"/>
            </a:avLst>
          </a:prstGeom>
          <a:solidFill>
            <a:srgbClr val="F3E5C7"/>
          </a:solidFill>
          <a:ln w="9525">
            <a:solidFill>
              <a:srgbClr val="A96F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5797296" y="4727448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F3E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850" b="1" spc="40">
                <a:solidFill>
                  <a:srgbClr val="A96F17"/>
                </a:solidFill>
                <a:latin typeface="Consolas"/>
              </a:rPr>
              <a:t>506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4608576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16233D"/>
                </a:solidFill>
                <a:latin typeface="Segoe UI"/>
              </a:rPr>
              <a:t>Waktu Pengiriman Pemasok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5048" y="4608576"/>
            <a:ext cx="310255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7A5610"/>
                </a:solidFill>
                <a:latin typeface="Segoe UI"/>
              </a:rPr>
              <a:t>Lebih cepat / Tetap / Lebih lambat ⚠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87568" y="5120640"/>
            <a:ext cx="5937199" cy="457200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 w="9525">
            <a:solidFill>
              <a:srgbClr val="D7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797296" y="5239512"/>
            <a:ext cx="457200" cy="219456"/>
          </a:xfrm>
          <a:prstGeom prst="roundRect">
            <a:avLst>
              <a:gd name="adj" fmla="val 50000"/>
            </a:avLst>
          </a:prstGeom>
          <a:solidFill>
            <a:srgbClr val="DE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850" b="1" spc="40">
                <a:solidFill>
                  <a:srgbClr val="2955C9"/>
                </a:solidFill>
                <a:latin typeface="Consolas"/>
              </a:rPr>
              <a:t>507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7648" y="512064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16233D"/>
                </a:solidFill>
                <a:latin typeface="Segoe UI"/>
              </a:rPr>
              <a:t>Persediaan Bahan Baku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5048" y="5120640"/>
            <a:ext cx="310255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4B5875"/>
                </a:solidFill>
                <a:latin typeface="Segoe UI"/>
              </a:rPr>
              <a:t>Naik / Tetap / Turun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12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110">
                <a:solidFill>
                  <a:srgbClr val="2955C9"/>
                </a:solidFill>
                <a:latin typeface="Consolas"/>
              </a:rPr>
              <a:t>12 · BLOK 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6233D"/>
                </a:solidFill>
                <a:latin typeface="Segoe UI Semibold"/>
              </a:rPr>
              <a:t>Catatan &amp; Menyelesaikan Survei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4B5875"/>
                </a:solidFill>
                <a:latin typeface="Consolas"/>
              </a:rPr>
              <a:t>12 / 14</a:t>
            </a:r>
          </a:p>
        </p:txBody>
      </p:sp>
      <p:pic>
        <p:nvPicPr>
          <p:cNvPr id="6" name="Picture 5" descr="10-blok6-catat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388" y="1481328"/>
            <a:ext cx="5775158" cy="3154680"/>
          </a:xfrm>
          <a:prstGeom prst="rect">
            <a:avLst/>
          </a:prstGeom>
          <a:ln w="12700">
            <a:solidFill>
              <a:srgbClr val="D7DEEB"/>
            </a:solidFill>
          </a:ln>
          <a:effectLst>
            <a:outerShdw blurRad="177800" dist="50800" dir="5400000" rotWithShape="0">
              <a:srgbClr val="16233D">
                <a:alpha val="30000"/>
              </a:srgb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566928" y="4956048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955C9"/>
                </a:solidFill>
                <a:latin typeface="Consolas"/>
              </a:rPr>
              <a:t>601</a:t>
            </a:r>
            <a:r>
              <a:rPr sz="1200" b="0">
                <a:solidFill>
                  <a:srgbClr val="4B5875"/>
                </a:solidFill>
                <a:latin typeface="Segoe UI"/>
              </a:rPr>
              <a:t>  ·  Catatan tambahan bersifat opsional — isi bila ada kondisi khusus.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413248"/>
            <a:ext cx="2139696" cy="384048"/>
          </a:xfrm>
          <a:prstGeom prst="roundRect">
            <a:avLst>
              <a:gd name="adj" fmla="val 28000"/>
            </a:avLst>
          </a:prstGeom>
          <a:solidFill>
            <a:srgbClr val="F4F6FB"/>
          </a:solidFill>
          <a:ln w="12700">
            <a:solidFill>
              <a:srgbClr val="D7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5413248"/>
            <a:ext cx="213969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4B5875"/>
                </a:solidFill>
                <a:latin typeface="Segoe UI"/>
              </a:rPr>
              <a:t>‹  Kembali ke Bab 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9504" y="5413248"/>
            <a:ext cx="1737360" cy="384048"/>
          </a:xfrm>
          <a:prstGeom prst="roundRect">
            <a:avLst>
              <a:gd name="adj" fmla="val 28000"/>
            </a:avLst>
          </a:prstGeom>
          <a:solidFill>
            <a:srgbClr val="F4F6FB"/>
          </a:solidFill>
          <a:ln w="12700">
            <a:solidFill>
              <a:srgbClr val="D7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89504" y="5413248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4B5875"/>
                </a:solidFill>
                <a:latin typeface="Segoe UI"/>
              </a:rPr>
              <a:t>💾  Simpan Draft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9744" y="5413248"/>
            <a:ext cx="2240280" cy="384048"/>
          </a:xfrm>
          <a:prstGeom prst="roundRect">
            <a:avLst>
              <a:gd name="adj" fmla="val 28000"/>
            </a:avLst>
          </a:prstGeom>
          <a:solidFill>
            <a:srgbClr val="2955C9"/>
          </a:solidFill>
          <a:ln w="12700">
            <a:solidFill>
              <a:srgbClr val="295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09744" y="5413248"/>
            <a:ext cx="22402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Selesaikan Survei  ›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12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110">
                <a:solidFill>
                  <a:srgbClr val="2955C9"/>
                </a:solidFill>
                <a:latin typeface="Consolas"/>
              </a:rPr>
              <a:t>13 · LANGKAH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6233D"/>
                </a:solidFill>
                <a:latin typeface="Segoe UI Semibold"/>
              </a:rPr>
              <a:t>Survei Selesai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4B5875"/>
                </a:solidFill>
                <a:latin typeface="Consolas"/>
              </a:rPr>
              <a:t>13 / 14</a:t>
            </a:r>
          </a:p>
        </p:txBody>
      </p:sp>
      <p:pic>
        <p:nvPicPr>
          <p:cNvPr id="6" name="Picture 5" descr="11-survei-seles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863" y="1481328"/>
            <a:ext cx="3387410" cy="1975104"/>
          </a:xfrm>
          <a:prstGeom prst="rect">
            <a:avLst/>
          </a:prstGeom>
          <a:ln w="12700">
            <a:solidFill>
              <a:srgbClr val="D7DEEB"/>
            </a:solidFill>
          </a:ln>
          <a:effectLst>
            <a:outerShdw blurRad="177800" dist="50800" dir="5400000" rotWithShape="0">
              <a:srgbClr val="16233D">
                <a:alpha val="30000"/>
              </a:srgbClr>
            </a:outerShdw>
          </a:effectLst>
        </p:spPr>
      </p:pic>
      <p:sp>
        <p:nvSpPr>
          <p:cNvPr id="7" name="Rounded Rectangle 6"/>
          <p:cNvSpPr/>
          <p:nvPr/>
        </p:nvSpPr>
        <p:spPr>
          <a:xfrm>
            <a:off x="566928" y="3813048"/>
            <a:ext cx="3383280" cy="502920"/>
          </a:xfrm>
          <a:prstGeom prst="roundRect">
            <a:avLst>
              <a:gd name="adj" fmla="val 20000"/>
            </a:avLst>
          </a:prstGeom>
          <a:solidFill>
            <a:srgbClr val="D9F0E5"/>
          </a:solidFill>
          <a:ln w="12700">
            <a:solidFill>
              <a:srgbClr val="1C8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3813048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1C8F63"/>
                </a:solidFill>
                <a:latin typeface="Segoe UI"/>
              </a:rPr>
              <a:t>✓  Data berhasil disimpan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0288" y="1664208"/>
            <a:ext cx="7034479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500" b="0">
                <a:solidFill>
                  <a:srgbClr val="16233D"/>
                </a:solidFill>
                <a:latin typeface="Segoe UI"/>
              </a:rPr>
              <a:t>Setelah menekan </a:t>
            </a:r>
            <a:r>
              <a:rPr sz="1500" b="1">
                <a:solidFill>
                  <a:srgbClr val="16233D"/>
                </a:solidFill>
                <a:latin typeface="Segoe UI"/>
              </a:rPr>
              <a:t>Selesaikan Survei</a:t>
            </a:r>
            <a:r>
              <a:rPr sz="1500" b="0">
                <a:solidFill>
                  <a:srgbClr val="16233D"/>
                </a:solidFill>
                <a:latin typeface="Segoe UI"/>
              </a:rPr>
              <a:t>,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6233D"/>
                </a:solidFill>
                <a:latin typeface="Segoe UI"/>
              </a:rPr>
              <a:t>muncul konfirmasi bahwa data survei triwulanan telah tersimpan, lalu sistem mengarahkan otomatis ke halaman dashboard.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E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12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110">
                <a:solidFill>
                  <a:srgbClr val="2955C9"/>
                </a:solidFill>
                <a:latin typeface="Consolas"/>
              </a:rPr>
              <a:t>14 · PENUTUP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6233D"/>
                </a:solidFill>
                <a:latin typeface="Segoe UI Semibold"/>
              </a:rPr>
              <a:t>Yang Perlu Diingat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4B5875"/>
                </a:solidFill>
                <a:latin typeface="Consolas"/>
              </a:rPr>
              <a:t>14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81328"/>
            <a:ext cx="5394960" cy="1783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7DEEB"/>
            </a:solidFill>
          </a:ln>
          <a:effectLst>
            <a:outerShdw blurRad="127000" dist="38100" dir="5400000" rotWithShape="0">
              <a:srgbClr val="1623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1481328"/>
            <a:ext cx="50800" cy="1783080"/>
          </a:xfrm>
          <a:prstGeom prst="rect">
            <a:avLst/>
          </a:prstGeom>
          <a:solidFill>
            <a:srgbClr val="295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1700784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6233D"/>
                </a:solidFill>
                <a:latin typeface="Segoe UI Semibold"/>
              </a:rPr>
              <a:t>Tersimpan otomatis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139696"/>
            <a:ext cx="48463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4B5875"/>
                </a:solidFill>
                <a:latin typeface="Segoe UI"/>
              </a:rPr>
              <a:t>Setiap isian langsung tersimpan — aman berpindah halaman tanpa takut kehilangan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9048" y="1481328"/>
            <a:ext cx="5394960" cy="1783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7DEEB"/>
            </a:solidFill>
          </a:ln>
          <a:effectLst>
            <a:outerShdw blurRad="127000" dist="38100" dir="5400000" rotWithShape="0">
              <a:srgbClr val="1623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99048" y="1481328"/>
            <a:ext cx="50800" cy="1783080"/>
          </a:xfrm>
          <a:prstGeom prst="rect">
            <a:avLst/>
          </a:prstGeom>
          <a:solidFill>
            <a:srgbClr val="295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91656" y="1700784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6233D"/>
                </a:solidFill>
                <a:latin typeface="Segoe UI Semibold"/>
              </a:rPr>
              <a:t>Lanjut kapan saja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1656" y="2139696"/>
            <a:ext cx="48463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4B5875"/>
                </a:solidFill>
                <a:latin typeface="Segoe UI"/>
              </a:rPr>
              <a:t>Survei dapat ditinggalkan dan dilanjutkan lagi lewat dashboard atau menu Riwayat Survei.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29000"/>
            <a:ext cx="5394960" cy="1783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7DEEB"/>
            </a:solidFill>
          </a:ln>
          <a:effectLst>
            <a:outerShdw blurRad="127000" dist="38100" dir="5400000" rotWithShape="0">
              <a:srgbClr val="1623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66928" y="3429000"/>
            <a:ext cx="50800" cy="1783080"/>
          </a:xfrm>
          <a:prstGeom prst="rect">
            <a:avLst/>
          </a:prstGeom>
          <a:solidFill>
            <a:srgbClr val="295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9536" y="3648456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6233D"/>
                </a:solidFill>
                <a:latin typeface="Segoe UI Semibold"/>
              </a:rPr>
              <a:t>Ikuti urutan blok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4087368"/>
            <a:ext cx="48463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4B5875"/>
                </a:solidFill>
                <a:latin typeface="Segoe UI"/>
              </a:rPr>
              <a:t>Blok IIIA dan pilihan Industri/Non-Industri menyesuaikan otomatis — cukup ikuti tampilan sistem.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9048" y="3429000"/>
            <a:ext cx="5394960" cy="1783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7DEEB"/>
            </a:solidFill>
          </a:ln>
          <a:effectLst>
            <a:outerShdw blurRad="127000" dist="38100" dir="5400000" rotWithShape="0">
              <a:srgbClr val="1623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99048" y="3429000"/>
            <a:ext cx="50800" cy="1783080"/>
          </a:xfrm>
          <a:prstGeom prst="rect">
            <a:avLst/>
          </a:prstGeom>
          <a:solidFill>
            <a:srgbClr val="295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91656" y="3648456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6233D"/>
                </a:solidFill>
                <a:latin typeface="Segoe UI Semibold"/>
              </a:rPr>
              <a:t>Butuh bantuan?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6" y="4087368"/>
            <a:ext cx="48463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4B5875"/>
                </a:solidFill>
                <a:latin typeface="Segoe UI"/>
              </a:rPr>
              <a:t>Hubungi BPS Kota Batam melalui kontak penghubung pada undangan survei.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73952"/>
            <a:ext cx="5486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dirty="0">
                <a:solidFill>
                  <a:srgbClr val="4B5875"/>
                </a:solidFill>
                <a:latin typeface="Segoe UI"/>
              </a:rPr>
              <a:t>BPS Kota </a:t>
            </a:r>
            <a:r>
              <a:rPr sz="1000" b="0" dirty="0" err="1">
                <a:solidFill>
                  <a:srgbClr val="4B5875"/>
                </a:solidFill>
                <a:latin typeface="Segoe UI"/>
              </a:rPr>
              <a:t>Batam</a:t>
            </a:r>
            <a:endParaRPr sz="1000" b="0" dirty="0">
              <a:solidFill>
                <a:srgbClr val="4B5875"/>
              </a:solidFill>
              <a:latin typeface="Segoe U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1188</Words>
  <Application>Microsoft Office PowerPoint</Application>
  <PresentationFormat>Widescreen</PresentationFormat>
  <Paragraphs>214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Consolas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BPS KOTA BATAM</cp:lastModifiedBy>
  <cp:revision>2</cp:revision>
  <dcterms:created xsi:type="dcterms:W3CDTF">2013-01-27T09:14:16Z</dcterms:created>
  <dcterms:modified xsi:type="dcterms:W3CDTF">2026-07-20T14:56:05Z</dcterms:modified>
  <cp:category/>
</cp:coreProperties>
</file>