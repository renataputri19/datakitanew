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63"/>
              </a:gs>
              <a:gs pos="100000">
                <a:srgbClr val="3E63C4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9144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 spc="130">
                <a:solidFill>
                  <a:srgbClr val="DCE6FF"/>
                </a:solidFill>
                <a:latin typeface="Consolas"/>
              </a:rPr>
              <a:t>PANDUAN RESPONDEN · SENSUS EKONOMI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9692640" cy="1828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Segoe UI Semibold"/>
              </a:rPr>
              <a:t>Cara Mengisi Survei</a:t>
            </a:r>
          </a:p>
          <a:p>
            <a:pPr algn="l">
              <a:lnSpc>
                <a:spcPct val="102000"/>
              </a:lnSpc>
            </a:pPr>
            <a:r>
              <a:rPr sz="4200" b="1">
                <a:solidFill>
                  <a:srgbClr val="FFFFFF"/>
                </a:solidFill>
                <a:latin typeface="Segoe UI Semibold"/>
              </a:rPr>
              <a:t>SIBSTR Triwulanan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786384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DCE6FF"/>
                </a:solidFill>
                <a:latin typeface="Segoe UI"/>
              </a:rPr>
              <a:t>Survei Industri Besar dan Sedang Triwulanan — langkah demi langkah, dari tautan akses sampai survei selesai.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794760"/>
            <a:ext cx="548640" cy="50800"/>
          </a:xfrm>
          <a:prstGeom prst="rect">
            <a:avLst/>
          </a:prstGeom>
          <a:solidFill>
            <a:srgbClr val="E9C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3657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BPS Kota Batam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5575" y="5961888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250" b="1" spc="20">
                <a:solidFill>
                  <a:srgbClr val="FFFFFF"/>
                </a:solidFill>
                <a:latin typeface="Consolas"/>
              </a:rPr>
              <a:t>s.bps.go.id/sibstr_tw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02 · RINGKASAN ALUR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Empat langkah dari tautan sampai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Seluruh proses berlangsung di satu tempat: DataKita — tidak perlu memasang aplikasi.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207568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50008"/>
            <a:ext cx="2075688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Akses Tautan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07208"/>
            <a:ext cx="2075688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Buka s.bps.go.id/sibstr_tw dari HP atau komputer.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743200"/>
            <a:ext cx="384048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984248"/>
            <a:ext cx="207568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50008"/>
            <a:ext cx="2075688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Masuk / Daftar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807208"/>
            <a:ext cx="2075688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Login jika sudah punya akun, atau daftar akun baru.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743200"/>
            <a:ext cx="384048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84248"/>
            <a:ext cx="207568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2075688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Pilih Triwulanan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07208"/>
            <a:ext cx="2075688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Pilih periode triwulan yang sedang terbuka.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2743200"/>
            <a:ext cx="384048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1984248"/>
            <a:ext cx="2075688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350008"/>
            <a:ext cx="2075688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Isi Blok I–VI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807208"/>
            <a:ext cx="2075688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Lengkapi formulir lalu selesaikan survei.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03 · LANGKAH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Akses tautan survei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Tautan pendek otomatis mengarahkan ke halaman survei SIBSTR di DataKita.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4892040" cy="12344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379976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1" spc="60">
                <a:solidFill>
                  <a:srgbClr val="4B5875"/>
                </a:solidFill>
                <a:latin typeface="Consolas"/>
              </a:rPr>
              <a:t>TAUTAN PENDEK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4379976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2955C9"/>
                </a:solidFill>
                <a:latin typeface="Consolas"/>
              </a:rPr>
              <a:t>s.bps.go.id/sibstr_tw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1783080"/>
            <a:ext cx="1273759" cy="12344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6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2727" y="1783080"/>
            <a:ext cx="4892040" cy="12344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8759" y="1965960"/>
            <a:ext cx="4379976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1" spc="60">
                <a:solidFill>
                  <a:srgbClr val="4B5875"/>
                </a:solidFill>
                <a:latin typeface="Consolas"/>
              </a:rPr>
              <a:t>DIARAHKAN OTOMATIS 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8759" y="2313432"/>
            <a:ext cx="4379976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>
                <a:solidFill>
                  <a:srgbClr val="2955C9"/>
                </a:solidFill>
                <a:latin typeface="Consolas"/>
              </a:rPr>
              <a:t>datakita.angkabatam.id/survei/sibstr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383280"/>
            <a:ext cx="10661904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5610"/>
                </a:solidFill>
                <a:latin typeface="Segoe UI"/>
              </a:rPr>
              <a:t>Dapat dibuka dari peramban (browser) HP maupun komputer, tanpa perlu memasang aplikasi tambahan.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04 · LANGKAH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Masuk atau daftar akun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Akun diperlukan agar isian tersimpan dan dapat dilanjutkan kapan saja.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483156" cy="237744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30">
                <a:solidFill>
                  <a:srgbClr val="2955C9"/>
                </a:solidFill>
                <a:latin typeface="Consolas"/>
              </a:rPr>
              <a:t>SUDAH PUNYA AKUN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30552"/>
            <a:ext cx="5394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16233D"/>
                </a:solidFill>
                <a:latin typeface="Segoe UI Semibold"/>
              </a:rPr>
              <a:t>Masuk ke Akun</a:t>
            </a:r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889" y="2606040"/>
            <a:ext cx="2349037" cy="352044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66928" y="6309360"/>
            <a:ext cx="539496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Isi Alamat Email dan Kata Sandi, lalu tekan Masuk.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1783080"/>
            <a:ext cx="1483156" cy="237744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30">
                <a:solidFill>
                  <a:srgbClr val="A96F17"/>
                </a:solidFill>
                <a:latin typeface="Consolas"/>
              </a:rPr>
              <a:t>BELUM PUNYA AKUN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807" y="2130552"/>
            <a:ext cx="5394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16233D"/>
                </a:solidFill>
                <a:latin typeface="Segoe UI Semibold"/>
              </a:rPr>
              <a:t>Buat Akun</a:t>
            </a:r>
          </a:p>
        </p:txBody>
      </p:sp>
      <p:pic>
        <p:nvPicPr>
          <p:cNvPr id="13" name="Picture 12" descr="02-daftar-ak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406" y="2606040"/>
            <a:ext cx="1863762" cy="352044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229807" y="6309360"/>
            <a:ext cx="539496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Lengkapi Nama, Email, Jenis Pengguna, dan Kata Sandi.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05 · LANGKAH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Pilih periode Triwulanan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Dashboard survei menampilkan dua tahap: Tahunan 2025 dan Triwulanan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05 / 15</a:t>
            </a:r>
          </a:p>
        </p:txBody>
      </p:sp>
      <p:pic>
        <p:nvPicPr>
          <p:cNvPr id="7" name="Picture 6" descr="03-dashboard-pilih-triwula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27" y="1783080"/>
            <a:ext cx="4031201" cy="434340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967728" y="1828800"/>
            <a:ext cx="4657039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50" b="1" spc="60">
                <a:solidFill>
                  <a:srgbClr val="4B5875"/>
                </a:solidFill>
                <a:latin typeface="Consolas"/>
              </a:rPr>
              <a:t>STATUS TRIWULAN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2240280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2240280"/>
            <a:ext cx="2561371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7447" y="239572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Tersedia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53512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2953512"/>
            <a:ext cx="2561371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07447" y="31089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Tersedia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3666744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3666744"/>
            <a:ext cx="2561371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III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07447" y="382219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4B5875"/>
                </a:solidFill>
                <a:latin typeface="Consolas"/>
              </a:rPr>
              <a:t>Belum buka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7728" y="4379976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4379976"/>
            <a:ext cx="2561371" cy="56692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07447" y="453542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4B5875"/>
                </a:solidFill>
                <a:latin typeface="Consolas"/>
              </a:rPr>
              <a:t>Belum buka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5138928"/>
            <a:ext cx="4657039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Tekan + Mulai Isi pada triwulan yang berstatus Tersedia.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06 · LANGKAH 4 · PETA FORMULIR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500" b="1">
                <a:solidFill>
                  <a:srgbClr val="16233D"/>
                </a:solidFill>
                <a:latin typeface="Segoe UI Semibold"/>
              </a:rPr>
              <a:t>Alur pengisian Blok I–VI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Cabang blok ditentukan otomatis dari jawaban yang sudah Anda isi sendiri di Blok 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783080"/>
            <a:ext cx="292608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07" y="1783080"/>
            <a:ext cx="2926080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I · Keterangan Umum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527" y="2258568"/>
            <a:ext cx="54864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2727" y="2532888"/>
            <a:ext cx="420624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2727" y="2532888"/>
            <a:ext cx="4206240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II · Pendahuluan  (isi 208 · KBLI Utama)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1527" y="3008376"/>
            <a:ext cx="54864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5567" y="3282696"/>
            <a:ext cx="4480560" cy="420624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5567" y="3282696"/>
            <a:ext cx="4480560" cy="42062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A96F17"/>
                </a:solidFill>
                <a:latin typeface="Segoe UI Semibold"/>
              </a:rPr>
              <a:t>KBLI 2 digit (kode 208c) termasuk 10–33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15287" y="3922776"/>
            <a:ext cx="4160520" cy="475488"/>
          </a:xfrm>
          <a:prstGeom prst="roundRect">
            <a:avLst>
              <a:gd name="adj" fmla="val 16000"/>
            </a:avLst>
          </a:prstGeom>
          <a:solidFill>
            <a:srgbClr val="DEE7FA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5287" y="3703320"/>
            <a:ext cx="416052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50" b="1" spc="80">
                <a:solidFill>
                  <a:srgbClr val="4B5875"/>
                </a:solidFill>
                <a:latin typeface="Consolas"/>
              </a:rPr>
              <a:t>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287" y="3922776"/>
            <a:ext cx="4160520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2955C9"/>
                </a:solidFill>
                <a:latin typeface="Segoe UI Semibold"/>
              </a:rPr>
              <a:t>Blok IIIA + IIIB (jalur Industri)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5887" y="3922776"/>
            <a:ext cx="4160520" cy="475488"/>
          </a:xfrm>
          <a:prstGeom prst="roundRect">
            <a:avLst>
              <a:gd name="adj" fmla="val 16000"/>
            </a:avLst>
          </a:prstGeom>
          <a:solidFill>
            <a:srgbClr val="DEE7FA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3703320"/>
            <a:ext cx="416052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50" b="1" spc="80">
                <a:solidFill>
                  <a:srgbClr val="4B5875"/>
                </a:solidFill>
                <a:latin typeface="Consolas"/>
              </a:rPr>
              <a:t>TIDAK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3922776"/>
            <a:ext cx="4160520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2955C9"/>
                </a:solidFill>
                <a:latin typeface="Segoe UI Semibold"/>
              </a:rPr>
              <a:t>Blok IIIB (jalur Non-Industri)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1527" y="4398264"/>
            <a:ext cx="54864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92727" y="4672584"/>
            <a:ext cx="420624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2727" y="4672584"/>
            <a:ext cx="4206240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V · Kondisi &amp; Prospek Usaha (7 komponen)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1527" y="5148072"/>
            <a:ext cx="54864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4167" y="5422392"/>
            <a:ext cx="402336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84167" y="5422392"/>
            <a:ext cx="4023360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VI · Catatan → Selesaikan Survei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047" y="6099048"/>
            <a:ext cx="82296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4B5875"/>
                </a:solidFill>
                <a:latin typeface="Segoe UI"/>
              </a:rPr>
              <a:t>Jika Kondisi Perusahaan (201) bukan “Masih Aktif”, sistem melewati IIIA–V dan langsung ke Blok VI.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07 · BLOK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Keterangan Umum &amp; Legalisasi Perusahaan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07 / 15</a:t>
            </a:r>
          </a:p>
        </p:txBody>
      </p:sp>
      <p:pic>
        <p:nvPicPr>
          <p:cNvPr id="6" name="Picture 5" descr="04-blok1-keterangan-um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91" y="1481328"/>
            <a:ext cx="3115514" cy="342900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6928" y="5093208"/>
            <a:ext cx="306324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B5875"/>
                </a:solidFill>
                <a:latin typeface="Segoe UI"/>
              </a:rPr>
              <a:t>Tampilan formulir hanya menunjukkan sebagian — daftar lengkap seluruh isian Blok I ada di samping.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8" y="1481328"/>
            <a:ext cx="370332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I. KETERANGAN UMUM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5928" y="1773936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05656" y="188823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1773936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Nama Perusahaan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95928" y="2295144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05656" y="240944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295144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Alamat Pabrik / Tempat Usaha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2816352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05656" y="293065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2816352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Kabupaten / Kota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95928" y="3337560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05656" y="34518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337560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Telepon / Fax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5928" y="3858768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05656" y="39730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858768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Penghubung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5928" y="4379976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05656" y="44942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4379976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95928" y="4901184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05656" y="501548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4901184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Homepage / Website (opsional)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95928" y="5422392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05656" y="55366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5736" y="5422392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Tahun mulai beroperasi komersial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95928" y="5943600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05656" y="605790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5736" y="5943600"/>
            <a:ext cx="2843784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NIB — Nomor Induk Berusaha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1481328"/>
            <a:ext cx="3669487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KAWASAN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0" y="1773936"/>
            <a:ext cx="3669487" cy="65836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65008" y="19933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110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1773936"/>
            <a:ext cx="2809951" cy="65836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00" b="0">
                <a:solidFill>
                  <a:srgbClr val="16233D"/>
                </a:solidFill>
                <a:latin typeface="Segoe UI"/>
              </a:rPr>
              <a:t>Jenis Kawasan — Kawasan Ekonomi Khusus / Kawasan Industri / Di Luar Kawasan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2505456"/>
            <a:ext cx="3669487" cy="40233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65008" y="259689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111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505456"/>
            <a:ext cx="2809951" cy="40233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00" b="0">
                <a:solidFill>
                  <a:srgbClr val="16233D"/>
                </a:solidFill>
                <a:latin typeface="Segoe UI"/>
              </a:rPr>
              <a:t>Nama Kawasan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2980944"/>
            <a:ext cx="3669487" cy="4572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65008" y="309981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112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980944"/>
            <a:ext cx="2809951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00" b="0">
                <a:solidFill>
                  <a:srgbClr val="16233D"/>
                </a:solidFill>
                <a:latin typeface="Segoe UI"/>
              </a:rPr>
              <a:t>Nama Perusahaan Pengelola Kawasan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3602736"/>
            <a:ext cx="3669487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LEGALISASI PERUSAHAAN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80" y="3895344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65008" y="400964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3895344"/>
            <a:ext cx="2809951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Nama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0" y="4416552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65008" y="453085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5088" y="4416552"/>
            <a:ext cx="2809951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Jabatan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80" y="4937760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65008" y="50520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4937760"/>
            <a:ext cx="2809951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Jenis Kelamin — Laki-laki / Perempuan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0" y="5458968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65008" y="55732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5458968"/>
            <a:ext cx="2809951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NIK (opsional)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08 · BLOK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08 / 15</a:t>
            </a:r>
          </a:p>
        </p:txBody>
      </p:sp>
      <p:pic>
        <p:nvPicPr>
          <p:cNvPr id="6" name="Picture 5" descr="05-blok2-pendahul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7" y="1481328"/>
            <a:ext cx="4902901" cy="429768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687568" y="1481328"/>
            <a:ext cx="5937199" cy="9601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97296" y="18516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481328"/>
            <a:ext cx="5077663" cy="9601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Kondisi Perusahaan</a:t>
            </a:r>
            <a:r>
              <a:rPr sz="1050" b="0">
                <a:solidFill>
                  <a:srgbClr val="16233D"/>
                </a:solidFill>
                <a:latin typeface="Segoe UI"/>
              </a:rPr>
              <a:t> — Masih Aktif / Belum Beroperasi / Tutup / Pindah / Tidak Ditemukan / Double-Ganda-Duplikat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2551176"/>
            <a:ext cx="5937199" cy="100584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97296" y="29443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077663" cy="10058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Jaringan / unit kegiatan perusahaan</a:t>
            </a:r>
            <a:r>
              <a:rPr sz="1050" b="0">
                <a:solidFill>
                  <a:srgbClr val="16233D"/>
                </a:solidFill>
                <a:latin typeface="Segoe UI"/>
              </a:rPr>
              <a:t> — Tunggal / Pabrik-Unit Produksi-Cabang / Pusat dgn Kegiatan Produksi / Kantor Pusat-Administrasi / Unit Pembantu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7568" y="3666744"/>
            <a:ext cx="5937199" cy="5029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97296" y="38084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666744"/>
            <a:ext cx="5077663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Rata-rata tenaga kerja</a:t>
            </a:r>
            <a:r>
              <a:rPr sz="1050" b="0">
                <a:solidFill>
                  <a:srgbClr val="16233D"/>
                </a:solidFill>
                <a:latin typeface="Segoe UI"/>
              </a:rPr>
              <a:t> di perusahaan pada triwulan 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4279392"/>
            <a:ext cx="5937199" cy="5029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97296" y="44211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208a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279392"/>
            <a:ext cx="5077663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Kegiatan utama perusahaan</a:t>
            </a:r>
            <a:r>
              <a:rPr sz="1050" b="0">
                <a:solidFill>
                  <a:srgbClr val="16233D"/>
                </a:solidFill>
                <a:latin typeface="Segoe UI"/>
              </a:rPr>
              <a:t> — uraian singkat kegiatan usaha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7568" y="4892040"/>
            <a:ext cx="5937199" cy="685800"/>
          </a:xfrm>
          <a:prstGeom prst="roundRect">
            <a:avLst>
              <a:gd name="adj" fmla="val 16000"/>
            </a:avLst>
          </a:prstGeom>
          <a:solidFill>
            <a:srgbClr val="F3E5C7"/>
          </a:solidFill>
          <a:ln w="9525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97296" y="512521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208c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892040"/>
            <a:ext cx="5077663" cy="6858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KBLI Utama</a:t>
            </a:r>
            <a:r>
              <a:rPr sz="1050" b="0">
                <a:solidFill>
                  <a:srgbClr val="16233D"/>
                </a:solidFill>
                <a:latin typeface="Segoe UI"/>
              </a:rPr>
              <a:t> (5 digit) — dari sinilah sistem menentukan jalur Industri / Non-Industri di Blok 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09 · BLOK IIIA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Kondisi Perekonomian (Pelaku Usaha)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481328"/>
            <a:ext cx="10661904" cy="65836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5610"/>
                </a:solidFill>
                <a:latin typeface="Segoe UI"/>
              </a:rPr>
              <a:t>Blok ini </a:t>
            </a:r>
            <a:r>
              <a:rPr sz="1200" b="1">
                <a:solidFill>
                  <a:srgbClr val="7A5610"/>
                </a:solidFill>
                <a:latin typeface="Segoe UI"/>
              </a:rPr>
              <a:t>hanya muncul</a:t>
            </a:r>
            <a:r>
              <a:rPr sz="1200" b="0">
                <a:solidFill>
                  <a:srgbClr val="7A5610"/>
                </a:solidFill>
                <a:latin typeface="Segoe UI"/>
              </a:rPr>
              <a:t> jika perusahaan Masih Aktif (201) dan KBLI Utama (208c) termasuk 10–33 / Industri Pengolahan. Jika tidak, sistem melewatinya.</a:t>
            </a:r>
          </a:p>
        </p:txBody>
      </p:sp>
      <p:pic>
        <p:nvPicPr>
          <p:cNvPr id="8" name="Picture 7" descr="06-blok3a-kondisi-perekonom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57" y="2350008"/>
            <a:ext cx="4911182" cy="356616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144768" y="2350008"/>
            <a:ext cx="5479999" cy="14173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4496" y="29489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301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2350008"/>
            <a:ext cx="4620463" cy="14173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Produk yang dihasilkan</a:t>
            </a:r>
            <a:r>
              <a:rPr sz="1050" b="0">
                <a:solidFill>
                  <a:srgbClr val="16233D"/>
                </a:solidFill>
                <a:latin typeface="Segoe UI"/>
              </a:rPr>
              <a:t> (bisa lebih dari satu, tombol Tambah Produk) — Nama/Jenis Barang, Satuan/Unit, lalu per bulan: Banyaknya, Nilai (Rp), dan Harga Satuan (otomatis).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895344"/>
            <a:ext cx="5479999" cy="123444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440283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302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3895344"/>
            <a:ext cx="4620463" cy="12344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Pendapatan Lainnya</a:t>
            </a:r>
            <a:r>
              <a:rPr sz="1050" b="0">
                <a:solidFill>
                  <a:srgbClr val="16233D"/>
                </a:solidFill>
                <a:latin typeface="Segoe UI"/>
              </a:rPr>
              <a:t> per bulan — mis. untung/rugi jual barang, sewa gedung/kendaraan, ongkos angkut, penjualan energi sampingan, jasa kemasan/reparasi kecil.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5257800"/>
            <a:ext cx="5479999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549097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303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5257800"/>
            <a:ext cx="4620463" cy="6858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Total Pendapatan</a:t>
            </a:r>
            <a:r>
              <a:rPr sz="1050" b="0">
                <a:solidFill>
                  <a:srgbClr val="16233D"/>
                </a:solidFill>
                <a:latin typeface="Segoe UI"/>
              </a:rPr>
              <a:t> per bulan — dihitung otomatis (301 + 302).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10 · BLOK IIIB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500" b="1">
                <a:solidFill>
                  <a:srgbClr val="16233D"/>
                </a:solidFill>
                <a:latin typeface="Segoe UI Semibold"/>
              </a:rPr>
              <a:t>Industri / Non-Industri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234440"/>
            <a:ext cx="10661904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5610"/>
                </a:solidFill>
                <a:latin typeface="Segoe UI"/>
              </a:rPr>
              <a:t>Hanya salah satu jalur berlaku</a:t>
            </a:r>
            <a:r>
              <a:rPr sz="1100" b="0">
                <a:solidFill>
                  <a:srgbClr val="7A5610"/>
                </a:solidFill>
                <a:latin typeface="Segoe UI"/>
              </a:rPr>
              <a:t> (sesuai KBLI). 3 dari 4 sub-bagian di bawah identik untuk kedua jalur — hanya Pendapatan Perusahaan yang berbeda.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5065776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2955C9"/>
                </a:solidFill>
                <a:latin typeface="Consolas"/>
              </a:rPr>
              <a:t>JIKA INDUSTRI · PENDAPATAN PERUSAHAAN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68296"/>
            <a:ext cx="502920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955C9"/>
                </a:solidFill>
                <a:latin typeface="Consolas"/>
              </a:rPr>
              <a:t>304</a:t>
            </a:r>
            <a:r>
              <a:rPr sz="1050" b="0">
                <a:solidFill>
                  <a:srgbClr val="16233D"/>
                </a:solidFill>
                <a:latin typeface="Segoe UI"/>
              </a:rPr>
              <a:t>  Pendapatan royalti, bunga, dividen, dan lainnya yang diterima perusahaan pada triwulan berjalan.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194767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4399" y="2066544"/>
            <a:ext cx="5065776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2955C9"/>
                </a:solidFill>
                <a:latin typeface="Consolas"/>
              </a:rPr>
              <a:t>JIKA NON-INDUSTRI · PENDAPATAN PERUSAHAAN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687" y="2368296"/>
            <a:ext cx="502920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955C9"/>
                </a:solidFill>
                <a:latin typeface="Consolas"/>
              </a:rPr>
              <a:t>303</a:t>
            </a:r>
            <a:r>
              <a:rPr sz="1000" b="0">
                <a:solidFill>
                  <a:srgbClr val="16233D"/>
                </a:solidFill>
                <a:latin typeface="Segoe UI"/>
              </a:rPr>
              <a:t>  Nilai penjualan barang &amp; jasa perusahaan.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2687" y="2660904"/>
            <a:ext cx="502920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955C9"/>
                </a:solidFill>
                <a:latin typeface="Consolas"/>
              </a:rPr>
              <a:t>304</a:t>
            </a:r>
            <a:r>
              <a:rPr sz="1000" b="0">
                <a:solidFill>
                  <a:srgbClr val="16233D"/>
                </a:solidFill>
                <a:latin typeface="Segoe UI"/>
              </a:rPr>
              <a:t>  Pendapatan royalti, bunga, dividen, dan lainnya.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687" y="2953512"/>
            <a:ext cx="5029200" cy="25603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955C9"/>
                </a:solidFill>
                <a:latin typeface="Consolas"/>
              </a:rPr>
              <a:t>305</a:t>
            </a:r>
            <a:r>
              <a:rPr sz="1000" b="0">
                <a:solidFill>
                  <a:srgbClr val="16233D"/>
                </a:solidFill>
                <a:latin typeface="Segoe UI"/>
              </a:rPr>
              <a:t>  Total pendapatan — dihitung otomatis.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75304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94176"/>
            <a:ext cx="3191256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PERSEDIAAN (INVENTORI) · sama di kedua jalur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05656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306</a:t>
            </a:r>
            <a:r>
              <a:rPr sz="1100" b="0">
                <a:solidFill>
                  <a:srgbClr val="16233D"/>
                </a:solidFill>
                <a:latin typeface="Segoe UI"/>
              </a:rPr>
              <a:t>  Bahan baku, bahan bakar (awal/akhir)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81144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307</a:t>
            </a:r>
            <a:r>
              <a:rPr sz="1100" b="0">
                <a:solidFill>
                  <a:srgbClr val="16233D"/>
                </a:solidFill>
                <a:latin typeface="Segoe UI"/>
              </a:rPr>
              <a:t>  Barang dalam proses (awal/akhir)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56632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308</a:t>
            </a:r>
            <a:r>
              <a:rPr sz="1100" b="0">
                <a:solidFill>
                  <a:srgbClr val="16233D"/>
                </a:solidFill>
                <a:latin typeface="Segoe UI"/>
              </a:rPr>
              <a:t>  Barang jadi (awal/akhir)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532120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309</a:t>
            </a:r>
            <a:r>
              <a:rPr sz="1100" b="0">
                <a:solidFill>
                  <a:srgbClr val="16233D"/>
                </a:solidFill>
                <a:latin typeface="Segoe UI"/>
              </a:rPr>
              <a:t>  Total persediaan — otomatis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75304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694176"/>
            <a:ext cx="3191256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ITEM PENGELUARAN · sama di kedua jalur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05656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310</a:t>
            </a:r>
            <a:r>
              <a:rPr sz="1100" b="0">
                <a:solidFill>
                  <a:srgbClr val="16233D"/>
                </a:solidFill>
                <a:latin typeface="Segoe UI"/>
              </a:rPr>
              <a:t>  Upah &amp; gaji + jaminan sosial pegawai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81144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311</a:t>
            </a:r>
            <a:r>
              <a:rPr sz="1100" b="0">
                <a:solidFill>
                  <a:srgbClr val="16233D"/>
                </a:solidFill>
                <a:latin typeface="Segoe UI"/>
              </a:rPr>
              <a:t>  Penambahan aset tetap (kecuali tanah)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056632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312</a:t>
            </a:r>
            <a:r>
              <a:rPr sz="1100" b="0">
                <a:solidFill>
                  <a:srgbClr val="16233D"/>
                </a:solidFill>
                <a:latin typeface="Segoe UI"/>
              </a:rPr>
              <a:t>  Biaya produksi (bahan baku &amp; penolong)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532120"/>
            <a:ext cx="3154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313</a:t>
            </a:r>
            <a:r>
              <a:rPr sz="1100" b="0">
                <a:solidFill>
                  <a:srgbClr val="16233D"/>
                </a:solidFill>
                <a:latin typeface="Segoe UI"/>
              </a:rPr>
              <a:t>  Biaya operasional (air, listrik, gas, dll)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575304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694176"/>
            <a:ext cx="3191256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EKSPOR IMPOR LN · sama di kedua jalur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105656"/>
            <a:ext cx="315468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314</a:t>
            </a:r>
            <a:r>
              <a:rPr sz="1100" b="0">
                <a:solidFill>
                  <a:srgbClr val="16233D"/>
                </a:solidFill>
                <a:latin typeface="Segoe UI"/>
              </a:rPr>
              <a:t>  % nilai produksi dijual ekspor langsung ke luar negeri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5001768"/>
            <a:ext cx="315468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315</a:t>
            </a:r>
            <a:r>
              <a:rPr sz="1100" b="0">
                <a:solidFill>
                  <a:srgbClr val="16233D"/>
                </a:solidFill>
                <a:latin typeface="Segoe UI"/>
              </a:rPr>
              <a:t>  % nilai bahan baku diperoleh dari impor luar negeri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11 · BLOK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Kondisi dan Prospek Usaha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11 / 15</a:t>
            </a:r>
          </a:p>
        </p:txBody>
      </p:sp>
      <p:pic>
        <p:nvPicPr>
          <p:cNvPr id="6" name="Picture 5" descr="09-blok5-kondisi-prospek-usa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2" y="1481328"/>
            <a:ext cx="5080112" cy="434340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6928" y="6007608"/>
            <a:ext cx="470916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B5875"/>
                </a:solidFill>
                <a:latin typeface="Segoe UI"/>
              </a:rPr>
              <a:t>Tampilan formulir hanya sampai baris 503 — 4 komponen lain ada di bawahnya.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7568" y="1481328"/>
            <a:ext cx="5937199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6233D"/>
                </a:solidFill>
                <a:latin typeface="Segoe UI"/>
              </a:rPr>
              <a:t>Untuk tiap komponen, isi Kondisi (triwulan ini vs lalu) dan Prospek (triwulan depan vs ini):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7568" y="2048256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7296" y="2167128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048256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Pesanan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048256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7568" y="2560320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97296" y="26791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60320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Produksi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560320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3072384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97296" y="3191256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072384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Kapasitas Produksi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072384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87568" y="3584448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97296" y="370332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584448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Tenaga Kerja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584448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7568" y="4096512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97296" y="4215384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96512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Jam Kerja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096512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87568" y="4608576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3E5C7"/>
          </a:solidFill>
          <a:ln w="9525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97296" y="4727448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A96F17"/>
                </a:solidFill>
                <a:latin typeface="Consolas"/>
              </a:rPr>
              <a:t>506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608576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Waktu Pengiriman Pemasok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608576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7A5610"/>
                </a:solidFill>
                <a:latin typeface="Segoe UI"/>
              </a:rPr>
              <a:t>Lebih cepat / Tetap / Lebih lambat 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87568" y="5120640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797296" y="52395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5120640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Persediaan Bahan Baku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5120640"/>
            <a:ext cx="3102559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12 · BLOK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Catatan &amp; Menyelesaikan Survei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12 / 15</a:t>
            </a:r>
          </a:p>
        </p:txBody>
      </p:sp>
      <p:pic>
        <p:nvPicPr>
          <p:cNvPr id="6" name="Picture 5" descr="10-blok6-cata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88" y="1481328"/>
            <a:ext cx="5775158" cy="315468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6928" y="4956048"/>
            <a:ext cx="110642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1">
                <a:solidFill>
                  <a:srgbClr val="2955C9"/>
                </a:solidFill>
                <a:latin typeface="Consolas"/>
              </a:rPr>
              <a:t>601</a:t>
            </a:r>
            <a:r>
              <a:rPr sz="1200" b="0">
                <a:solidFill>
                  <a:srgbClr val="4B5875"/>
                </a:solidFill>
                <a:latin typeface="Segoe UI"/>
              </a:rPr>
              <a:t>  ·  Catatan tambahan bersifat opsional — isi bila ada kondisi khusus.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413248"/>
            <a:ext cx="2139696" cy="384048"/>
          </a:xfrm>
          <a:prstGeom prst="roundRect">
            <a:avLst>
              <a:gd name="adj" fmla="val 28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413248"/>
            <a:ext cx="2139696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4B5875"/>
                </a:solidFill>
                <a:latin typeface="Segoe UI"/>
              </a:rPr>
              <a:t>‹  Kembali ke Bab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5413248"/>
            <a:ext cx="1737360" cy="384048"/>
          </a:xfrm>
          <a:prstGeom prst="roundRect">
            <a:avLst>
              <a:gd name="adj" fmla="val 28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413248"/>
            <a:ext cx="173736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4B5875"/>
                </a:solidFill>
                <a:latin typeface="Segoe UI"/>
              </a:rPr>
              <a:t>💾  Simpan 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5413248"/>
            <a:ext cx="2240280" cy="384048"/>
          </a:xfrm>
          <a:prstGeom prst="roundRect">
            <a:avLst>
              <a:gd name="adj" fmla="val 28000"/>
            </a:avLst>
          </a:prstGeom>
          <a:solidFill>
            <a:srgbClr val="2955C9"/>
          </a:solidFill>
          <a:ln w="12700">
            <a:solidFill>
              <a:srgbClr val="295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5413248"/>
            <a:ext cx="224028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Selesaikan Survei 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13 · 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Survei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13 / 15</a:t>
            </a:r>
          </a:p>
        </p:txBody>
      </p:sp>
      <p:pic>
        <p:nvPicPr>
          <p:cNvPr id="6" name="Picture 5" descr="11-survei-sele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63" y="1481328"/>
            <a:ext cx="3387410" cy="1975104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66928" y="3813048"/>
            <a:ext cx="3383280" cy="502920"/>
          </a:xfrm>
          <a:prstGeom prst="roundRect">
            <a:avLst>
              <a:gd name="adj" fmla="val 20000"/>
            </a:avLst>
          </a:prstGeom>
          <a:solidFill>
            <a:srgbClr val="D9F0E5"/>
          </a:solidFill>
          <a:ln w="12700">
            <a:solidFill>
              <a:srgbClr val="1C8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13048"/>
            <a:ext cx="30175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1C8F63"/>
                </a:solidFill>
                <a:latin typeface="Segoe UI"/>
              </a:rPr>
              <a:t>✓  Data berhasil disimpan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664208"/>
            <a:ext cx="7034479" cy="3200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16233D"/>
                </a:solidFill>
                <a:latin typeface="Segoe UI"/>
              </a:rPr>
              <a:t>Setelah menekan </a:t>
            </a:r>
            <a:r>
              <a:rPr sz="1500" b="1">
                <a:solidFill>
                  <a:srgbClr val="16233D"/>
                </a:solidFill>
                <a:latin typeface="Segoe UI"/>
              </a:rPr>
              <a:t>Selesaikan Survei</a:t>
            </a:r>
            <a:r>
              <a:rPr sz="1500" b="0">
                <a:solidFill>
                  <a:srgbClr val="16233D"/>
                </a:solidFill>
                <a:latin typeface="Segoe UI"/>
              </a:rPr>
              <a:t>,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33D"/>
                </a:solidFill>
                <a:latin typeface="Segoe UI"/>
              </a:rPr>
              <a:t>muncul konfirmasi bahwa data survei triwulanan telah tersimpan, lalu sistem mengarahkan otomatis ke halaman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14 ·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Yang Perlu Diingat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00784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Tersimpan otomatis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39696"/>
            <a:ext cx="48463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Setiap isian langsung tersimpan — aman berpindah halaman tanpa takut kehilangan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481328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9048" y="1481328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700784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Lanjut kapan saja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139696"/>
            <a:ext cx="48463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Survei dapat ditinggalkan dan dilanjutkan lagi lewat dashboard atau menu Riwayat Survei.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29000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648456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Ikuti urutan blok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087368"/>
            <a:ext cx="48463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Blok IIIA dan pilihan Industri/Non-Industri menyesuaikan otomatis — cukup ikuti tampilan sistem.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3429000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3429000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3648456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Butuh bantuan?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087368"/>
            <a:ext cx="48463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Hubungi BPS Kota Batam melalui kontak penghubung pada undangan survei.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4B5875"/>
                </a:solidFill>
                <a:latin typeface="Segoe UI"/>
              </a:rPr>
              <a:t>BPS Kota Batam · Sensus Ekonomi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E63C4"/>
              </a:gs>
              <a:gs pos="100000">
                <a:srgbClr val="122A63"/>
              </a:gs>
            </a:gsLst>
            <a:lin scaled="0" ang="7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65836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50" b="1" spc="130">
                <a:solidFill>
                  <a:srgbClr val="DCE6FF"/>
                </a:solidFill>
                <a:latin typeface="Consolas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658368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Sampai Jumpa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658368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Survei Berikutnya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999232"/>
            <a:ext cx="548640" cy="50800"/>
          </a:xfrm>
          <a:prstGeom prst="rect">
            <a:avLst/>
          </a:prstGeom>
          <a:solidFill>
            <a:srgbClr val="E9C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630936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DCE6FF"/>
                </a:solidFill>
                <a:latin typeface="Segoe UI"/>
              </a:rPr>
              <a:t>Semoga panduan ini membantu proses pengisian Survei SIBSTR Triwulanan perusahaan Anda. Data yang Anda berikan sangat berarti bagi statistik industri Kota Batam.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440680"/>
            <a:ext cx="630936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Butuh bantuan?</a:t>
            </a:r>
            <a:r>
              <a:rPr sz="1150" b="0">
                <a:solidFill>
                  <a:srgbClr val="DCE6FF"/>
                </a:solidFill>
                <a:latin typeface="Segoe UI"/>
              </a:rPr>
              <a:t>  Hubungi BPS Kota Batam melalui kontak penghubung pada undangan survei.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89320"/>
            <a:ext cx="4572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BPS Kota Batam · Sensus Ekonomi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47128" y="1051560"/>
            <a:ext cx="3977639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7128" y="1344168"/>
            <a:ext cx="3977639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100" b="1" spc="30">
                <a:solidFill>
                  <a:srgbClr val="2955C9"/>
                </a:solidFill>
                <a:latin typeface="Consolas"/>
              </a:rPr>
              <a:t>▶  TATA CARA LENGKAP DALAM VIDEO</a:t>
            </a:r>
          </a:p>
        </p:txBody>
      </p:sp>
      <p:pic>
        <p:nvPicPr>
          <p:cNvPr id="12" name="Picture 11" descr="qr-tutorial-you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647" y="1783080"/>
            <a:ext cx="2514600" cy="2514600"/>
          </a:xfrm>
          <a:prstGeom prst="rect">
            <a:avLst/>
          </a:prstGeom>
          <a:ln w="12700">
            <a:solidFill>
              <a:srgbClr val="D7DEEB"/>
            </a:solidFill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647128" y="4480560"/>
            <a:ext cx="3977639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50" b="1" spc="60">
                <a:solidFill>
                  <a:srgbClr val="4B5875"/>
                </a:solidFill>
                <a:latin typeface="Consolas"/>
              </a:rPr>
              <a:t>SCAN UNTUK MENONTON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8627" y="4846320"/>
            <a:ext cx="2834640" cy="420624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300" b="1" spc="20">
                <a:solidFill>
                  <a:srgbClr val="2955C9"/>
                </a:solidFill>
                <a:latin typeface="Consolas"/>
              </a:rPr>
              <a:t>youtu.be/5ohIqNhnvz8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7128" y="5367528"/>
            <a:ext cx="3977639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950" b="0">
                <a:solidFill>
                  <a:srgbClr val="4B5875"/>
                </a:solidFill>
                <a:latin typeface="Segoe UI"/>
              </a:rPr>
              <a:t>Survei Industri Besar dan Sedang Triwulanan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